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D' LOOPS PROTOCOL // v2.1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972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DE-HYPED DIVISION · 06 / 23 /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LOOPS IS SO MAY, BRO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4297680"/>
            <a:ext cx="2011680" cy="2011680"/>
          </a:xfrm>
          <a:prstGeom prst="ellipse">
            <a:avLst/>
          </a:prstGeom>
          <a:ln w="9525">
            <a:solidFill>
              <a:srgbClr val="1A8A8E">
                <a:alpha val="6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15200" y="3474720"/>
            <a:ext cx="3657600" cy="3657600"/>
          </a:xfrm>
          <a:prstGeom prst="ellipse">
            <a:avLst/>
          </a:prstGeom>
          <a:ln w="9525">
            <a:solidFill>
              <a:srgbClr val="1A8A8E">
                <a:alpha val="6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492240" y="2651760"/>
            <a:ext cx="5303520" cy="5303520"/>
          </a:xfrm>
          <a:prstGeom prst="ellipse">
            <a:avLst/>
          </a:prstGeom>
          <a:ln w="9525">
            <a:solidFill>
              <a:srgbClr val="1A8A8E">
                <a:alpha val="65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669280" y="1828800"/>
            <a:ext cx="6949440" cy="6949440"/>
          </a:xfrm>
          <a:prstGeom prst="ellipse">
            <a:avLst/>
          </a:prstGeom>
          <a:ln w="9525">
            <a:solidFill>
              <a:srgbClr val="1A8A8E">
                <a:alpha val="65000"/>
              </a:srgbClr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669280" y="5303520"/>
            <a:ext cx="6949440" cy="0"/>
          </a:xfrm>
          <a:prstGeom prst="line">
            <a:avLst/>
          </a:prstGeom>
          <a:noFill/>
          <a:ln w="6350">
            <a:solidFill>
              <a:srgbClr val="1A8A8E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1828800"/>
            <a:ext cx="0" cy="6949440"/>
          </a:xfrm>
          <a:prstGeom prst="line">
            <a:avLst/>
          </a:prstGeom>
          <a:noFill/>
          <a:ln w="6350">
            <a:solidFill>
              <a:srgbClr val="1A8A8E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777622" y="8062402"/>
            <a:ext cx="53364" cy="53364"/>
          </a:xfrm>
          <a:prstGeom prst="rect">
            <a:avLst/>
          </a:prstGeom>
          <a:solidFill>
            <a:srgbClr val="00F0FF">
              <a:alpha val="5314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943821" y="6025166"/>
            <a:ext cx="20260" cy="20260"/>
          </a:xfrm>
          <a:prstGeom prst="rect">
            <a:avLst/>
          </a:prstGeom>
          <a:solidFill>
            <a:srgbClr val="00F0FF">
              <a:alpha val="465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758487" y="3503390"/>
            <a:ext cx="45397" cy="45397"/>
          </a:xfrm>
          <a:prstGeom prst="rect">
            <a:avLst/>
          </a:prstGeom>
          <a:solidFill>
            <a:srgbClr val="00F0FF">
              <a:alpha val="4020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5911372" y="2227237"/>
            <a:ext cx="23225" cy="23225"/>
          </a:xfrm>
          <a:prstGeom prst="rect">
            <a:avLst/>
          </a:prstGeom>
          <a:solidFill>
            <a:srgbClr val="00F0FF">
              <a:alpha val="4503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54733" y="4607591"/>
            <a:ext cx="29717" cy="29717"/>
          </a:xfrm>
          <a:prstGeom prst="rect">
            <a:avLst/>
          </a:prstGeom>
          <a:solidFill>
            <a:srgbClr val="00F0FF">
              <a:alpha val="4988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246055" y="5567414"/>
            <a:ext cx="46021" cy="46021"/>
          </a:xfrm>
          <a:prstGeom prst="rect">
            <a:avLst/>
          </a:prstGeom>
          <a:solidFill>
            <a:srgbClr val="00F0FF">
              <a:alpha val="4797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34769" y="8879030"/>
            <a:ext cx="35673" cy="35673"/>
          </a:xfrm>
          <a:prstGeom prst="rect">
            <a:avLst/>
          </a:prstGeom>
          <a:solidFill>
            <a:srgbClr val="FF2BD6">
              <a:alpha val="43671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53772" y="3679282"/>
            <a:ext cx="46201" cy="46201"/>
          </a:xfrm>
          <a:prstGeom prst="rect">
            <a:avLst/>
          </a:prstGeom>
          <a:solidFill>
            <a:srgbClr val="00F0FF">
              <a:alpha val="6909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7389989" y="2249495"/>
            <a:ext cx="42495" cy="42495"/>
          </a:xfrm>
          <a:prstGeom prst="rect">
            <a:avLst/>
          </a:prstGeom>
          <a:solidFill>
            <a:srgbClr val="00F0FF">
              <a:alpha val="6082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1761812" y="1214430"/>
            <a:ext cx="20605" cy="20605"/>
          </a:xfrm>
          <a:prstGeom prst="rect">
            <a:avLst/>
          </a:prstGeom>
          <a:solidFill>
            <a:srgbClr val="00F0FF">
              <a:alpha val="4653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5573497" y="4006052"/>
            <a:ext cx="36184" cy="36184"/>
          </a:xfrm>
          <a:prstGeom prst="rect">
            <a:avLst/>
          </a:prstGeom>
          <a:solidFill>
            <a:srgbClr val="FF2BD6">
              <a:alpha val="41708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1050690" y="3505163"/>
            <a:ext cx="37869" cy="37869"/>
          </a:xfrm>
          <a:prstGeom prst="rect">
            <a:avLst/>
          </a:prstGeom>
          <a:solidFill>
            <a:srgbClr val="00F0FF">
              <a:alpha val="4623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343622" y="7568407"/>
            <a:ext cx="54220" cy="54220"/>
          </a:xfrm>
          <a:prstGeom prst="rect">
            <a:avLst/>
          </a:prstGeom>
          <a:solidFill>
            <a:srgbClr val="00F0FF">
              <a:alpha val="5114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65029" y="6353708"/>
            <a:ext cx="39291" cy="39291"/>
          </a:xfrm>
          <a:prstGeom prst="rect">
            <a:avLst/>
          </a:prstGeom>
          <a:solidFill>
            <a:srgbClr val="00F0FF">
              <a:alpha val="5522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51438" y="910509"/>
            <a:ext cx="35190" cy="35190"/>
          </a:xfrm>
          <a:prstGeom prst="rect">
            <a:avLst/>
          </a:prstGeom>
          <a:solidFill>
            <a:srgbClr val="00F0FF">
              <a:alpha val="6172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7003478" y="1137612"/>
            <a:ext cx="29838" cy="29838"/>
          </a:xfrm>
          <a:prstGeom prst="rect">
            <a:avLst/>
          </a:prstGeom>
          <a:solidFill>
            <a:srgbClr val="00F0FF">
              <a:alpha val="5498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442368" y="2298343"/>
            <a:ext cx="21993" cy="21993"/>
          </a:xfrm>
          <a:prstGeom prst="rect">
            <a:avLst/>
          </a:prstGeom>
          <a:solidFill>
            <a:srgbClr val="00F0FF">
              <a:alpha val="4714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15512" y="4421062"/>
            <a:ext cx="37507" cy="37507"/>
          </a:xfrm>
          <a:prstGeom prst="rect">
            <a:avLst/>
          </a:prstGeom>
          <a:solidFill>
            <a:srgbClr val="00F0FF">
              <a:alpha val="447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5983221" y="1067295"/>
            <a:ext cx="23660" cy="23660"/>
          </a:xfrm>
          <a:prstGeom prst="rect">
            <a:avLst/>
          </a:prstGeom>
          <a:solidFill>
            <a:srgbClr val="00F0FF">
              <a:alpha val="5556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3547353" y="1795484"/>
            <a:ext cx="23915" cy="23915"/>
          </a:xfrm>
          <a:prstGeom prst="rect">
            <a:avLst/>
          </a:prstGeom>
          <a:solidFill>
            <a:srgbClr val="FF2BD6">
              <a:alpha val="4496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984753" y="5612913"/>
            <a:ext cx="47867" cy="47867"/>
          </a:xfrm>
          <a:prstGeom prst="rect">
            <a:avLst/>
          </a:prstGeom>
          <a:solidFill>
            <a:srgbClr val="00F0FF">
              <a:alpha val="5289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715411" y="8123265"/>
            <a:ext cx="38733" cy="38733"/>
          </a:xfrm>
          <a:prstGeom prst="rect">
            <a:avLst/>
          </a:prstGeom>
          <a:solidFill>
            <a:srgbClr val="00F0FF">
              <a:alpha val="5037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6612545" y="5610943"/>
            <a:ext cx="48104" cy="48104"/>
          </a:xfrm>
          <a:prstGeom prst="rect">
            <a:avLst/>
          </a:prstGeom>
          <a:solidFill>
            <a:srgbClr val="FF2BD6">
              <a:alpha val="46191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2991721" y="5251872"/>
            <a:ext cx="32742" cy="32742"/>
          </a:xfrm>
          <a:prstGeom prst="rect">
            <a:avLst/>
          </a:prstGeom>
          <a:solidFill>
            <a:srgbClr val="00F0FF">
              <a:alpha val="5359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3823328" y="4691893"/>
            <a:ext cx="41529" cy="41529"/>
          </a:xfrm>
          <a:prstGeom prst="rect">
            <a:avLst/>
          </a:prstGeom>
          <a:solidFill>
            <a:srgbClr val="00F0FF">
              <a:alpha val="6692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879784" y="5320810"/>
            <a:ext cx="24456" cy="24456"/>
          </a:xfrm>
          <a:prstGeom prst="rect">
            <a:avLst/>
          </a:prstGeom>
          <a:solidFill>
            <a:srgbClr val="00F0FF">
              <a:alpha val="4831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678255" y="4103747"/>
            <a:ext cx="31757" cy="31757"/>
          </a:xfrm>
          <a:prstGeom prst="rect">
            <a:avLst/>
          </a:prstGeom>
          <a:solidFill>
            <a:srgbClr val="00F0FF">
              <a:alpha val="4435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5548811" y="728708"/>
            <a:ext cx="35097" cy="35097"/>
          </a:xfrm>
          <a:prstGeom prst="rect">
            <a:avLst/>
          </a:prstGeom>
          <a:solidFill>
            <a:srgbClr val="00F0FF">
              <a:alpha val="4270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1163070" y="1690894"/>
            <a:ext cx="29171" cy="29171"/>
          </a:xfrm>
          <a:prstGeom prst="rect">
            <a:avLst/>
          </a:prstGeom>
          <a:solidFill>
            <a:srgbClr val="00F0FF">
              <a:alpha val="4884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858356" y="2934351"/>
            <a:ext cx="47959" cy="47959"/>
          </a:xfrm>
          <a:prstGeom prst="rect">
            <a:avLst/>
          </a:prstGeom>
          <a:solidFill>
            <a:srgbClr val="00F0FF">
              <a:alpha val="5268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5324421" y="6189240"/>
            <a:ext cx="22484" cy="22484"/>
          </a:xfrm>
          <a:prstGeom prst="rect">
            <a:avLst/>
          </a:prstGeom>
          <a:solidFill>
            <a:srgbClr val="00F0FF">
              <a:alpha val="652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513522" y="4676726"/>
            <a:ext cx="28722" cy="28722"/>
          </a:xfrm>
          <a:prstGeom prst="rect">
            <a:avLst/>
          </a:prstGeom>
          <a:solidFill>
            <a:srgbClr val="00F0FF">
              <a:alpha val="4528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583143" y="2509492"/>
            <a:ext cx="47820" cy="47820"/>
          </a:xfrm>
          <a:prstGeom prst="rect">
            <a:avLst/>
          </a:prstGeom>
          <a:solidFill>
            <a:srgbClr val="00F0FF">
              <a:alpha val="4608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4582717" y="3459860"/>
            <a:ext cx="43315" cy="43315"/>
          </a:xfrm>
          <a:prstGeom prst="rect">
            <a:avLst/>
          </a:prstGeom>
          <a:solidFill>
            <a:srgbClr val="00F0FF">
              <a:alpha val="4198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554420" y="5854395"/>
            <a:ext cx="26156" cy="26156"/>
          </a:xfrm>
          <a:prstGeom prst="rect">
            <a:avLst/>
          </a:prstGeom>
          <a:solidFill>
            <a:srgbClr val="FF2BD6">
              <a:alpha val="6511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0475898" y="3594980"/>
            <a:ext cx="34388" cy="34388"/>
          </a:xfrm>
          <a:prstGeom prst="rect">
            <a:avLst/>
          </a:prstGeom>
          <a:solidFill>
            <a:srgbClr val="00F0FF">
              <a:alpha val="5205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4756260" y="2496098"/>
            <a:ext cx="27484" cy="27484"/>
          </a:xfrm>
          <a:prstGeom prst="rect">
            <a:avLst/>
          </a:prstGeom>
          <a:solidFill>
            <a:srgbClr val="00F0FF">
              <a:alpha val="6048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2718326" y="5989712"/>
            <a:ext cx="24522" cy="24522"/>
          </a:xfrm>
          <a:prstGeom prst="rect">
            <a:avLst/>
          </a:prstGeom>
          <a:solidFill>
            <a:srgbClr val="00F0FF">
              <a:alpha val="4585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778459" y="6956626"/>
            <a:ext cx="47288" cy="47288"/>
          </a:xfrm>
          <a:prstGeom prst="rect">
            <a:avLst/>
          </a:prstGeom>
          <a:solidFill>
            <a:srgbClr val="00F0FF">
              <a:alpha val="6809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7277610" y="4063763"/>
            <a:ext cx="51193" cy="51193"/>
          </a:xfrm>
          <a:prstGeom prst="rect">
            <a:avLst/>
          </a:prstGeom>
          <a:solidFill>
            <a:srgbClr val="00F0FF">
              <a:alpha val="5821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1247078" y="5848486"/>
            <a:ext cx="26866" cy="26866"/>
          </a:xfrm>
          <a:prstGeom prst="rect">
            <a:avLst/>
          </a:prstGeom>
          <a:solidFill>
            <a:srgbClr val="00F0FF">
              <a:alpha val="4499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14106" y="4170519"/>
            <a:ext cx="52992" cy="52992"/>
          </a:xfrm>
          <a:prstGeom prst="rect">
            <a:avLst/>
          </a:prstGeom>
          <a:solidFill>
            <a:srgbClr val="FF2BD6">
              <a:alpha val="6170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388606" y="8928666"/>
            <a:ext cx="44338" cy="44338"/>
          </a:xfrm>
          <a:prstGeom prst="rect">
            <a:avLst/>
          </a:prstGeom>
          <a:solidFill>
            <a:srgbClr val="00F0FF">
              <a:alpha val="626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573236" y="6196528"/>
            <a:ext cx="36239" cy="36239"/>
          </a:xfrm>
          <a:prstGeom prst="rect">
            <a:avLst/>
          </a:prstGeom>
          <a:solidFill>
            <a:srgbClr val="00F0FF">
              <a:alpha val="6004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724680" y="5192190"/>
            <a:ext cx="54546" cy="54546"/>
          </a:xfrm>
          <a:prstGeom prst="rect">
            <a:avLst/>
          </a:prstGeom>
          <a:solidFill>
            <a:srgbClr val="00F0FF">
              <a:alpha val="6038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12530" y="8666896"/>
            <a:ext cx="46541" cy="46541"/>
          </a:xfrm>
          <a:prstGeom prst="rect">
            <a:avLst/>
          </a:prstGeom>
          <a:solidFill>
            <a:srgbClr val="00F0FF">
              <a:alpha val="4137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320082" y="7799647"/>
            <a:ext cx="19110" cy="19110"/>
          </a:xfrm>
          <a:prstGeom prst="rect">
            <a:avLst/>
          </a:prstGeom>
          <a:solidFill>
            <a:srgbClr val="00F0FF">
              <a:alpha val="5849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9233461" y="1597729"/>
            <a:ext cx="18424" cy="18424"/>
          </a:xfrm>
          <a:prstGeom prst="rect">
            <a:avLst/>
          </a:prstGeom>
          <a:solidFill>
            <a:srgbClr val="00F0FF">
              <a:alpha val="6163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1681939" y="4044263"/>
            <a:ext cx="24276" cy="24276"/>
          </a:xfrm>
          <a:prstGeom prst="rect">
            <a:avLst/>
          </a:prstGeom>
          <a:solidFill>
            <a:srgbClr val="00F0FF">
              <a:alpha val="5181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729454" y="2233934"/>
            <a:ext cx="51681" cy="51681"/>
          </a:xfrm>
          <a:prstGeom prst="rect">
            <a:avLst/>
          </a:prstGeom>
          <a:solidFill>
            <a:srgbClr val="00F0FF">
              <a:alpha val="6784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2882289" y="3342665"/>
            <a:ext cx="20825" cy="20825"/>
          </a:xfrm>
          <a:prstGeom prst="rect">
            <a:avLst/>
          </a:prstGeom>
          <a:solidFill>
            <a:srgbClr val="00F0FF">
              <a:alpha val="6294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0729396" y="5016298"/>
            <a:ext cx="53743" cy="53743"/>
          </a:xfrm>
          <a:prstGeom prst="rect">
            <a:avLst/>
          </a:prstGeom>
          <a:solidFill>
            <a:srgbClr val="FF2BD6">
              <a:alpha val="6148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6424632" y="8644638"/>
            <a:ext cx="27271" cy="27271"/>
          </a:xfrm>
          <a:prstGeom prst="rect">
            <a:avLst/>
          </a:prstGeom>
          <a:solidFill>
            <a:srgbClr val="00F0FF">
              <a:alpha val="5559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14103723" y="2003088"/>
            <a:ext cx="28222" cy="28222"/>
          </a:xfrm>
          <a:prstGeom prst="rect">
            <a:avLst/>
          </a:prstGeom>
          <a:solidFill>
            <a:srgbClr val="00F0FF">
              <a:alpha val="6183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2096739" y="3159091"/>
            <a:ext cx="28260" cy="28260"/>
          </a:xfrm>
          <a:prstGeom prst="rect">
            <a:avLst/>
          </a:prstGeom>
          <a:solidFill>
            <a:srgbClr val="FF2BD6">
              <a:alpha val="6789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10456738" y="9418130"/>
            <a:ext cx="22080" cy="22080"/>
          </a:xfrm>
          <a:prstGeom prst="rect">
            <a:avLst/>
          </a:prstGeom>
          <a:solidFill>
            <a:srgbClr val="00F0FF">
              <a:alpha val="4924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14330324" y="7534529"/>
            <a:ext cx="43662" cy="43662"/>
          </a:xfrm>
          <a:prstGeom prst="rect">
            <a:avLst/>
          </a:prstGeom>
          <a:solidFill>
            <a:srgbClr val="00F0FF">
              <a:alpha val="5579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7216529" y="8428171"/>
            <a:ext cx="24029" cy="24029"/>
          </a:xfrm>
          <a:prstGeom prst="rect">
            <a:avLst/>
          </a:prstGeom>
          <a:solidFill>
            <a:srgbClr val="00F0FF">
              <a:alpha val="6854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4449050" y="5320219"/>
            <a:ext cx="39157" cy="39157"/>
          </a:xfrm>
          <a:prstGeom prst="rect">
            <a:avLst/>
          </a:prstGeom>
          <a:solidFill>
            <a:srgbClr val="FF2BD6">
              <a:alpha val="46307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14994652" y="2323357"/>
            <a:ext cx="33617" cy="33617"/>
          </a:xfrm>
          <a:prstGeom prst="rect">
            <a:avLst/>
          </a:prstGeom>
          <a:solidFill>
            <a:srgbClr val="00F0FF">
              <a:alpha val="4231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4712045" y="3209909"/>
            <a:ext cx="44098" cy="44098"/>
          </a:xfrm>
          <a:prstGeom prst="rect">
            <a:avLst/>
          </a:prstGeom>
          <a:solidFill>
            <a:srgbClr val="00F0FF">
              <a:alpha val="6092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7024849" y="6306436"/>
            <a:ext cx="44973" cy="44973"/>
          </a:xfrm>
          <a:prstGeom prst="rect">
            <a:avLst/>
          </a:prstGeom>
          <a:solidFill>
            <a:srgbClr val="FF2BD6">
              <a:alpha val="44268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17529266" y="5514823"/>
            <a:ext cx="37712" cy="37712"/>
          </a:xfrm>
          <a:prstGeom prst="rect">
            <a:avLst/>
          </a:prstGeom>
          <a:solidFill>
            <a:srgbClr val="00F0FF">
              <a:alpha val="4891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1634408" y="6649554"/>
            <a:ext cx="18361" cy="18361"/>
          </a:xfrm>
          <a:prstGeom prst="rect">
            <a:avLst/>
          </a:prstGeom>
          <a:solidFill>
            <a:srgbClr val="00F0FF">
              <a:alpha val="4254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15235254" y="3952870"/>
            <a:ext cx="42577" cy="42577"/>
          </a:xfrm>
          <a:prstGeom prst="rect">
            <a:avLst/>
          </a:prstGeom>
          <a:solidFill>
            <a:srgbClr val="00F0FF">
              <a:alpha val="4063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6176007" y="8685017"/>
            <a:ext cx="22418" cy="22418"/>
          </a:xfrm>
          <a:prstGeom prst="rect">
            <a:avLst/>
          </a:prstGeom>
          <a:solidFill>
            <a:srgbClr val="00F0FF">
              <a:alpha val="4307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3797618" y="1133476"/>
            <a:ext cx="23020" cy="23020"/>
          </a:xfrm>
          <a:prstGeom prst="rect">
            <a:avLst/>
          </a:prstGeom>
          <a:solidFill>
            <a:srgbClr val="00F0FF">
              <a:alpha val="4090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17703546" y="8215052"/>
            <a:ext cx="35016" cy="35016"/>
          </a:xfrm>
          <a:prstGeom prst="rect">
            <a:avLst/>
          </a:prstGeom>
          <a:solidFill>
            <a:srgbClr val="00F0FF">
              <a:alpha val="6289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16748874" y="3410028"/>
            <a:ext cx="27359" cy="27359"/>
          </a:xfrm>
          <a:prstGeom prst="rect">
            <a:avLst/>
          </a:prstGeom>
          <a:solidFill>
            <a:srgbClr val="00F0FF">
              <a:alpha val="5231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5443515" y="5806926"/>
            <a:ext cx="24547" cy="24547"/>
          </a:xfrm>
          <a:prstGeom prst="rect">
            <a:avLst/>
          </a:prstGeom>
          <a:solidFill>
            <a:srgbClr val="00F0FF">
              <a:alpha val="5349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8671565" y="1479351"/>
            <a:ext cx="25338" cy="25338"/>
          </a:xfrm>
          <a:prstGeom prst="rect">
            <a:avLst/>
          </a:prstGeom>
          <a:solidFill>
            <a:srgbClr val="00F0FF">
              <a:alpha val="4856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16298989" y="8835106"/>
            <a:ext cx="19007" cy="19007"/>
          </a:xfrm>
          <a:prstGeom prst="rect">
            <a:avLst/>
          </a:prstGeom>
          <a:solidFill>
            <a:srgbClr val="FF2BD6">
              <a:alpha val="4411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8004658" y="3056274"/>
            <a:ext cx="25988" cy="25988"/>
          </a:xfrm>
          <a:prstGeom prst="rect">
            <a:avLst/>
          </a:prstGeom>
          <a:solidFill>
            <a:srgbClr val="00F0FF">
              <a:alpha val="4781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6762590" y="2891018"/>
            <a:ext cx="53167" cy="53167"/>
          </a:xfrm>
          <a:prstGeom prst="rect">
            <a:avLst/>
          </a:prstGeom>
          <a:solidFill>
            <a:srgbClr val="00F0FF">
              <a:alpha val="5514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6258910" y="7346622"/>
            <a:ext cx="36987" cy="36987"/>
          </a:xfrm>
          <a:prstGeom prst="rect">
            <a:avLst/>
          </a:prstGeom>
          <a:solidFill>
            <a:srgbClr val="00F0FF">
              <a:alpha val="4598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12913608" y="2837049"/>
            <a:ext cx="30393" cy="30393"/>
          </a:xfrm>
          <a:prstGeom prst="rect">
            <a:avLst/>
          </a:prstGeom>
          <a:solidFill>
            <a:srgbClr val="00F0FF">
              <a:alpha val="5138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13409182" y="4026142"/>
            <a:ext cx="48400" cy="48400"/>
          </a:xfrm>
          <a:prstGeom prst="rect">
            <a:avLst/>
          </a:prstGeom>
          <a:solidFill>
            <a:srgbClr val="00F0FF">
              <a:alpha val="5011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5251917" y="8900105"/>
            <a:ext cx="47771" cy="47771"/>
          </a:xfrm>
          <a:prstGeom prst="rect">
            <a:avLst/>
          </a:prstGeom>
          <a:solidFill>
            <a:srgbClr val="00F0FF">
              <a:alpha val="5543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4412204" y="5915061"/>
            <a:ext cx="40810" cy="40810"/>
          </a:xfrm>
          <a:prstGeom prst="rect">
            <a:avLst/>
          </a:prstGeom>
          <a:solidFill>
            <a:srgbClr val="00F0FF">
              <a:alpha val="6168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12853181" y="5650534"/>
            <a:ext cx="50660" cy="50660"/>
          </a:xfrm>
          <a:prstGeom prst="rect">
            <a:avLst/>
          </a:prstGeom>
          <a:solidFill>
            <a:srgbClr val="00F0FF">
              <a:alpha val="6099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14710571" y="5071646"/>
            <a:ext cx="54405" cy="54405"/>
          </a:xfrm>
          <a:prstGeom prst="rect">
            <a:avLst/>
          </a:prstGeom>
          <a:solidFill>
            <a:srgbClr val="00F0FF">
              <a:alpha val="6994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1123727" y="3866402"/>
            <a:ext cx="23709" cy="23709"/>
          </a:xfrm>
          <a:prstGeom prst="rect">
            <a:avLst/>
          </a:prstGeom>
          <a:solidFill>
            <a:srgbClr val="00F0FF">
              <a:alpha val="4621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6527146" y="8530003"/>
            <a:ext cx="26420" cy="26420"/>
          </a:xfrm>
          <a:prstGeom prst="rect">
            <a:avLst/>
          </a:prstGeom>
          <a:solidFill>
            <a:srgbClr val="FF2BD6">
              <a:alpha val="55273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1685992" y="5816775"/>
            <a:ext cx="23363" cy="23363"/>
          </a:xfrm>
          <a:prstGeom prst="rect">
            <a:avLst/>
          </a:prstGeom>
          <a:solidFill>
            <a:srgbClr val="00F0FF">
              <a:alpha val="5702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4480737" y="6646599"/>
            <a:ext cx="18717" cy="18717"/>
          </a:xfrm>
          <a:prstGeom prst="rect">
            <a:avLst/>
          </a:prstGeom>
          <a:solidFill>
            <a:srgbClr val="FF2BD6">
              <a:alpha val="6248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105" name="Text 103"/>
          <p:cNvSpPr/>
          <p:nvPr/>
        </p:nvSpPr>
        <p:spPr>
          <a:xfrm>
            <a:off x="0" y="3291840"/>
            <a:ext cx="1828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SYS::DE-HYPED  ·  IRONY CORE ONLINE  ·  USER: @ASTROGNOSYAI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0" y="3840480"/>
            <a:ext cx="1828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spc="200" kern="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D'</a:t>
            </a:r>
            <a:pPr algn="ctr" indent="0" marL="0">
              <a:buNone/>
            </a:pPr>
            <a:r>
              <a:rPr lang="en-US" sz="11800" spc="200" kern="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LOOPS</a:t>
            </a:r>
            <a:endParaRPr lang="en-US" sz="11800" dirty="0"/>
          </a:p>
        </p:txBody>
      </p:sp>
      <p:sp>
        <p:nvSpPr>
          <p:cNvPr id="107" name="Text 105"/>
          <p:cNvSpPr/>
          <p:nvPr/>
        </p:nvSpPr>
        <p:spPr>
          <a:xfrm>
            <a:off x="1828800" y="548640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loops is so </a:t>
            </a:r>
            <a:pPr algn="ctr" indent="0" marL="0">
              <a:buNone/>
            </a:pPr>
            <a:r>
              <a:rPr lang="en-US" sz="3200" b="1" dirty="0">
                <a:solidFill>
                  <a:srgbClr val="FF2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May, bro</a:t>
            </a:r>
            <a:endParaRPr lang="en-US" sz="3200" dirty="0"/>
          </a:p>
        </p:txBody>
      </p:sp>
      <p:sp>
        <p:nvSpPr>
          <p:cNvPr id="108" name="Text 106"/>
          <p:cNvSpPr/>
          <p:nvPr/>
        </p:nvSpPr>
        <p:spPr>
          <a:xfrm>
            <a:off x="0" y="6263640"/>
            <a:ext cx="1828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9AAAB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THE POST-ALPHA META-WORKFLOW PROTOCOL</a:t>
            </a:r>
            <a:endParaRPr lang="en-US" sz="2200" dirty="0"/>
          </a:p>
        </p:txBody>
      </p:sp>
      <p:sp>
        <p:nvSpPr>
          <p:cNvPr id="109" name="Text 107"/>
          <p:cNvSpPr/>
          <p:nvPr/>
        </p:nvSpPr>
        <p:spPr>
          <a:xfrm>
            <a:off x="0" y="8778240"/>
            <a:ext cx="1828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AGENTS WERE HARMED</a:t>
            </a:r>
            <a:pPr algn="ctr" indent="0" marL="0">
              <a:buNone/>
            </a:pPr>
            <a:r>
              <a:rPr lang="en-US" sz="1500" b="1" spc="4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ctr" indent="0" marL="0">
              <a:buNone/>
            </a:pPr>
            <a:r>
              <a:rPr lang="en-US" sz="1500" b="1" spc="400" kern="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USEFUL</a:t>
            </a:r>
            <a:pPr algn="ctr" indent="0" marL="0">
              <a:buNone/>
            </a:pPr>
            <a:r>
              <a:rPr lang="en-US" sz="1500" b="1" spc="4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algn="ctr" indent="0" marL="0">
              <a:buNone/>
            </a:pPr>
            <a:r>
              <a:rPr lang="en-US" sz="1500" b="1" spc="400" kern="0" dirty="0">
                <a:solidFill>
                  <a:srgbClr val="FF2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COMEDY CERTIFIED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// THE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972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IS SO MAY, BRO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LOOPDLOOPS.PROTOCOL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2BD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833259" y="9002135"/>
            <a:ext cx="20876" cy="20876"/>
          </a:xfrm>
          <a:prstGeom prst="rect">
            <a:avLst/>
          </a:prstGeom>
          <a:solidFill>
            <a:srgbClr val="00F0FF">
              <a:alpha val="428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40588" y="3941840"/>
            <a:ext cx="36587" cy="36587"/>
          </a:xfrm>
          <a:prstGeom prst="rect">
            <a:avLst/>
          </a:prstGeom>
          <a:solidFill>
            <a:srgbClr val="00F0FF">
              <a:alpha val="630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18188" y="9146709"/>
            <a:ext cx="32759" cy="32759"/>
          </a:xfrm>
          <a:prstGeom prst="rect">
            <a:avLst/>
          </a:prstGeom>
          <a:solidFill>
            <a:srgbClr val="00F0FF">
              <a:alpha val="5508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68718" y="1500624"/>
            <a:ext cx="44726" cy="44726"/>
          </a:xfrm>
          <a:prstGeom prst="rect">
            <a:avLst/>
          </a:prstGeom>
          <a:solidFill>
            <a:srgbClr val="00F0FF">
              <a:alpha val="6099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8142" y="8601109"/>
            <a:ext cx="25188" cy="25188"/>
          </a:xfrm>
          <a:prstGeom prst="rect">
            <a:avLst/>
          </a:prstGeom>
          <a:solidFill>
            <a:srgbClr val="00F0FF">
              <a:alpha val="5737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6771" y="5630246"/>
            <a:ext cx="31153" cy="31153"/>
          </a:xfrm>
          <a:prstGeom prst="rect">
            <a:avLst/>
          </a:prstGeom>
          <a:solidFill>
            <a:srgbClr val="00F0FF">
              <a:alpha val="5191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27183" y="2146481"/>
            <a:ext cx="32932" cy="32932"/>
          </a:xfrm>
          <a:prstGeom prst="rect">
            <a:avLst/>
          </a:prstGeom>
          <a:solidFill>
            <a:srgbClr val="FF2BD6">
              <a:alpha val="40070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76223" y="6346814"/>
            <a:ext cx="40120" cy="40120"/>
          </a:xfrm>
          <a:prstGeom prst="rect">
            <a:avLst/>
          </a:prstGeom>
          <a:solidFill>
            <a:srgbClr val="00F0FF">
              <a:alpha val="6175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23161" y="4645211"/>
            <a:ext cx="32510" cy="32510"/>
          </a:xfrm>
          <a:prstGeom prst="rect">
            <a:avLst/>
          </a:prstGeom>
          <a:solidFill>
            <a:srgbClr val="00F0FF">
              <a:alpha val="5797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41215" y="2515795"/>
            <a:ext cx="25117" cy="25117"/>
          </a:xfrm>
          <a:prstGeom prst="rect">
            <a:avLst/>
          </a:prstGeom>
          <a:solidFill>
            <a:srgbClr val="00F0FF">
              <a:alpha val="6754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36671" y="7134488"/>
            <a:ext cx="47855" cy="47855"/>
          </a:xfrm>
          <a:prstGeom prst="rect">
            <a:avLst/>
          </a:prstGeom>
          <a:solidFill>
            <a:srgbClr val="00F0FF">
              <a:alpha val="4369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479918" y="6957414"/>
            <a:ext cx="39878" cy="39878"/>
          </a:xfrm>
          <a:prstGeom prst="rect">
            <a:avLst/>
          </a:prstGeom>
          <a:solidFill>
            <a:srgbClr val="00F0FF">
              <a:alpha val="4077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52654" y="3374376"/>
            <a:ext cx="24329" cy="24329"/>
          </a:xfrm>
          <a:prstGeom prst="rect">
            <a:avLst/>
          </a:prstGeom>
          <a:solidFill>
            <a:srgbClr val="00F0FF">
              <a:alpha val="5092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2362765" y="2540219"/>
            <a:ext cx="51442" cy="51442"/>
          </a:xfrm>
          <a:prstGeom prst="rect">
            <a:avLst/>
          </a:prstGeom>
          <a:solidFill>
            <a:srgbClr val="00F0FF">
              <a:alpha val="6070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58881" y="4142944"/>
            <a:ext cx="19730" cy="19730"/>
          </a:xfrm>
          <a:prstGeom prst="rect">
            <a:avLst/>
          </a:prstGeom>
          <a:solidFill>
            <a:srgbClr val="00F0FF">
              <a:alpha val="5781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4684780" y="5488036"/>
            <a:ext cx="33616" cy="33616"/>
          </a:xfrm>
          <a:prstGeom prst="rect">
            <a:avLst/>
          </a:prstGeom>
          <a:solidFill>
            <a:srgbClr val="FF2BD6">
              <a:alpha val="4770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5096346" y="2519537"/>
            <a:ext cx="53928" cy="53928"/>
          </a:xfrm>
          <a:prstGeom prst="rect">
            <a:avLst/>
          </a:prstGeom>
          <a:solidFill>
            <a:srgbClr val="FF2BD6">
              <a:alpha val="50288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1683331" y="6157332"/>
            <a:ext cx="48265" cy="48265"/>
          </a:xfrm>
          <a:prstGeom prst="rect">
            <a:avLst/>
          </a:prstGeom>
          <a:solidFill>
            <a:srgbClr val="FF2BD6">
              <a:alpha val="46583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88712" y="9622582"/>
            <a:ext cx="19451" cy="19451"/>
          </a:xfrm>
          <a:prstGeom prst="rect">
            <a:avLst/>
          </a:prstGeom>
          <a:solidFill>
            <a:srgbClr val="00F0FF">
              <a:alpha val="5538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3969973" y="7838253"/>
            <a:ext cx="21785" cy="21785"/>
          </a:xfrm>
          <a:prstGeom prst="rect">
            <a:avLst/>
          </a:prstGeom>
          <a:solidFill>
            <a:srgbClr val="00F0FF">
              <a:alpha val="6993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95107" y="4576667"/>
            <a:ext cx="18804" cy="18804"/>
          </a:xfrm>
          <a:prstGeom prst="rect">
            <a:avLst/>
          </a:prstGeom>
          <a:solidFill>
            <a:srgbClr val="00F0FF">
              <a:alpha val="6459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78450" y="7354107"/>
            <a:ext cx="21457" cy="21457"/>
          </a:xfrm>
          <a:prstGeom prst="rect">
            <a:avLst/>
          </a:prstGeom>
          <a:solidFill>
            <a:srgbClr val="FF2BD6">
              <a:alpha val="41473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416208" y="882736"/>
            <a:ext cx="31213" cy="31213"/>
          </a:xfrm>
          <a:prstGeom prst="rect">
            <a:avLst/>
          </a:prstGeom>
          <a:solidFill>
            <a:srgbClr val="FF2BD6">
              <a:alpha val="5715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17490" y="9356479"/>
            <a:ext cx="44121" cy="44121"/>
          </a:xfrm>
          <a:prstGeom prst="rect">
            <a:avLst/>
          </a:prstGeom>
          <a:solidFill>
            <a:srgbClr val="00F0FF">
              <a:alpha val="4933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95836" y="8638138"/>
            <a:ext cx="42683" cy="42683"/>
          </a:xfrm>
          <a:prstGeom prst="rect">
            <a:avLst/>
          </a:prstGeom>
          <a:solidFill>
            <a:srgbClr val="00F0FF">
              <a:alpha val="6346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867609" y="798237"/>
            <a:ext cx="48685" cy="48685"/>
          </a:xfrm>
          <a:prstGeom prst="rect">
            <a:avLst/>
          </a:prstGeom>
          <a:solidFill>
            <a:srgbClr val="FF2BD6">
              <a:alpha val="6944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892320" y="2883139"/>
            <a:ext cx="54114" cy="54114"/>
          </a:xfrm>
          <a:prstGeom prst="rect">
            <a:avLst/>
          </a:prstGeom>
          <a:solidFill>
            <a:srgbClr val="00F0FF">
              <a:alpha val="5831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3428" y="5050768"/>
            <a:ext cx="49599" cy="49599"/>
          </a:xfrm>
          <a:prstGeom prst="rect">
            <a:avLst/>
          </a:prstGeom>
          <a:solidFill>
            <a:srgbClr val="00F0FF">
              <a:alpha val="5885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756736" y="8350566"/>
            <a:ext cx="40673" cy="40673"/>
          </a:xfrm>
          <a:prstGeom prst="rect">
            <a:avLst/>
          </a:prstGeom>
          <a:solidFill>
            <a:srgbClr val="00F0FF">
              <a:alpha val="4430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1342876" y="4301897"/>
            <a:ext cx="51831" cy="51831"/>
          </a:xfrm>
          <a:prstGeom prst="rect">
            <a:avLst/>
          </a:prstGeom>
          <a:solidFill>
            <a:srgbClr val="00F0FF">
              <a:alpha val="590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43786" y="6547524"/>
            <a:ext cx="45256" cy="45256"/>
          </a:xfrm>
          <a:prstGeom prst="rect">
            <a:avLst/>
          </a:prstGeom>
          <a:solidFill>
            <a:srgbClr val="00F0FF">
              <a:alpha val="5514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6706870" y="5926092"/>
            <a:ext cx="46799" cy="46799"/>
          </a:xfrm>
          <a:prstGeom prst="rect">
            <a:avLst/>
          </a:prstGeom>
          <a:solidFill>
            <a:srgbClr val="00F0FF">
              <a:alpha val="6923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6411000" y="5188842"/>
            <a:ext cx="40318" cy="40318"/>
          </a:xfrm>
          <a:prstGeom prst="rect">
            <a:avLst/>
          </a:prstGeom>
          <a:solidFill>
            <a:srgbClr val="00F0FF">
              <a:alpha val="4898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3139472" y="4704499"/>
            <a:ext cx="32699" cy="32699"/>
          </a:xfrm>
          <a:prstGeom prst="rect">
            <a:avLst/>
          </a:prstGeom>
          <a:solidFill>
            <a:srgbClr val="00F0FF">
              <a:alpha val="4984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78411" y="3480345"/>
            <a:ext cx="33537" cy="33537"/>
          </a:xfrm>
          <a:prstGeom prst="rect">
            <a:avLst/>
          </a:prstGeom>
          <a:solidFill>
            <a:srgbClr val="00F0FF">
              <a:alpha val="5173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338529" y="6309785"/>
            <a:ext cx="22625" cy="22625"/>
          </a:xfrm>
          <a:prstGeom prst="rect">
            <a:avLst/>
          </a:prstGeom>
          <a:solidFill>
            <a:srgbClr val="FF2BD6">
              <a:alpha val="5566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102324" y="9477220"/>
            <a:ext cx="51554" cy="51554"/>
          </a:xfrm>
          <a:prstGeom prst="rect">
            <a:avLst/>
          </a:prstGeom>
          <a:solidFill>
            <a:srgbClr val="00F0FF">
              <a:alpha val="4044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76079" y="1779136"/>
            <a:ext cx="40510" cy="40510"/>
          </a:xfrm>
          <a:prstGeom prst="rect">
            <a:avLst/>
          </a:prstGeom>
          <a:solidFill>
            <a:srgbClr val="00F0FF">
              <a:alpha val="4930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939466" y="8430535"/>
            <a:ext cx="38376" cy="38376"/>
          </a:xfrm>
          <a:prstGeom prst="rect">
            <a:avLst/>
          </a:prstGeom>
          <a:solidFill>
            <a:srgbClr val="00F0FF">
              <a:alpha val="4659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755622" y="3252060"/>
            <a:ext cx="31716" cy="31716"/>
          </a:xfrm>
          <a:prstGeom prst="rect">
            <a:avLst/>
          </a:prstGeom>
          <a:solidFill>
            <a:srgbClr val="00F0FF">
              <a:alpha val="5444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150993" y="1588274"/>
            <a:ext cx="34191" cy="34191"/>
          </a:xfrm>
          <a:prstGeom prst="rect">
            <a:avLst/>
          </a:prstGeom>
          <a:solidFill>
            <a:srgbClr val="00F0FF">
              <a:alpha val="5943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455649" y="3127182"/>
            <a:ext cx="54041" cy="54041"/>
          </a:xfrm>
          <a:prstGeom prst="rect">
            <a:avLst/>
          </a:prstGeom>
          <a:solidFill>
            <a:srgbClr val="FF2BD6">
              <a:alpha val="49253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531928" y="5174266"/>
            <a:ext cx="49385" cy="49385"/>
          </a:xfrm>
          <a:prstGeom prst="rect">
            <a:avLst/>
          </a:prstGeom>
          <a:solidFill>
            <a:srgbClr val="FF2BD6">
              <a:alpha val="59353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526434" y="3673570"/>
            <a:ext cx="54203" cy="54203"/>
          </a:xfrm>
          <a:prstGeom prst="rect">
            <a:avLst/>
          </a:prstGeom>
          <a:solidFill>
            <a:srgbClr val="FF2BD6">
              <a:alpha val="4964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4319639" y="9544977"/>
            <a:ext cx="36094" cy="36094"/>
          </a:xfrm>
          <a:prstGeom prst="rect">
            <a:avLst/>
          </a:prstGeom>
          <a:solidFill>
            <a:srgbClr val="00F0FF">
              <a:alpha val="6114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673080" y="6819931"/>
            <a:ext cx="34458" cy="34458"/>
          </a:xfrm>
          <a:prstGeom prst="rect">
            <a:avLst/>
          </a:prstGeom>
          <a:solidFill>
            <a:srgbClr val="FF2BD6">
              <a:alpha val="52661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4934962" y="8800834"/>
            <a:ext cx="30442" cy="30442"/>
          </a:xfrm>
          <a:prstGeom prst="rect">
            <a:avLst/>
          </a:prstGeom>
          <a:solidFill>
            <a:srgbClr val="00F0FF">
              <a:alpha val="4742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773275" y="880570"/>
            <a:ext cx="24159" cy="24159"/>
          </a:xfrm>
          <a:prstGeom prst="rect">
            <a:avLst/>
          </a:prstGeom>
          <a:solidFill>
            <a:srgbClr val="FF2BD6">
              <a:alpha val="49782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9802359" y="8954862"/>
            <a:ext cx="26558" cy="26558"/>
          </a:xfrm>
          <a:prstGeom prst="rect">
            <a:avLst/>
          </a:prstGeom>
          <a:solidFill>
            <a:srgbClr val="00F0FF">
              <a:alpha val="6187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427696" y="8546155"/>
            <a:ext cx="39109" cy="39109"/>
          </a:xfrm>
          <a:prstGeom prst="rect">
            <a:avLst/>
          </a:prstGeom>
          <a:solidFill>
            <a:srgbClr val="00F0FF">
              <a:alpha val="5026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439838" y="5468930"/>
            <a:ext cx="21282" cy="21282"/>
          </a:xfrm>
          <a:prstGeom prst="rect">
            <a:avLst/>
          </a:prstGeom>
          <a:solidFill>
            <a:srgbClr val="00F0FF">
              <a:alpha val="4265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10161604" y="3155152"/>
            <a:ext cx="28734" cy="28734"/>
          </a:xfrm>
          <a:prstGeom prst="rect">
            <a:avLst/>
          </a:prstGeom>
          <a:solidFill>
            <a:srgbClr val="00F0FF">
              <a:alpha val="5448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818637" y="3675343"/>
            <a:ext cx="46675" cy="46675"/>
          </a:xfrm>
          <a:prstGeom prst="rect">
            <a:avLst/>
          </a:prstGeom>
          <a:solidFill>
            <a:srgbClr val="00F0FF">
              <a:alpha val="5568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8751888" y="5696427"/>
            <a:ext cx="30513" cy="30513"/>
          </a:xfrm>
          <a:prstGeom prst="rect">
            <a:avLst/>
          </a:prstGeom>
          <a:solidFill>
            <a:srgbClr val="FF2BD6">
              <a:alpha val="6725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183376" y="8566048"/>
            <a:ext cx="44033" cy="44033"/>
          </a:xfrm>
          <a:prstGeom prst="rect">
            <a:avLst/>
          </a:prstGeom>
          <a:solidFill>
            <a:srgbClr val="00F0FF">
              <a:alpha val="5800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280160" y="141732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Alpha Workflow Industrial Complex is trapped in an infinite May loop.</a:t>
            </a:r>
            <a:endParaRPr lang="en-US" sz="2600" dirty="0"/>
          </a:p>
        </p:txBody>
      </p:sp>
      <p:sp>
        <p:nvSpPr>
          <p:cNvPr id="71" name="Shape 69"/>
          <p:cNvSpPr/>
          <p:nvPr/>
        </p:nvSpPr>
        <p:spPr>
          <a:xfrm>
            <a:off x="1097280" y="2194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0A111A"/>
          </a:solidFill>
          <a:ln w="19050">
            <a:solidFill>
              <a:srgbClr val="FF2BD6"/>
            </a:solidFill>
            <a:prstDash val="solid"/>
          </a:ln>
          <a:effectLst>
            <a:outerShdw sx="100000" sy="100000" kx="0" ky="0" algn="bl" rotWithShape="0" blurRad="101600" dist="38100" dir="16200000">
              <a:srgbClr val="FF2BD6">
                <a:alpha val="4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1280160" y="2331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BD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SYMPTOM 01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280160" y="27432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17-agent orchestration graphs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crash on step 3 because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agent ghosted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planner agent over prompt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semantics.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0 tasks shipped.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583680" y="2194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0A111A"/>
          </a:solidFill>
          <a:ln w="19050">
            <a:solidFill>
              <a:srgbClr val="00F0FF"/>
            </a:solidFill>
            <a:prstDash val="solid"/>
          </a:ln>
          <a:effectLst>
            <a:outerShdw sx="100000" sy="100000" kx="0" ky="0" algn="bl" rotWithShape="0" blurRad="101600" dist="38100" dir="16200000">
              <a:srgbClr val="00F0FF">
                <a:alpha val="4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6766560" y="2331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SYMPTOM 02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766560" y="27432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loops that loop back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'make it more alpha, bro'.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gets 47% more jargon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83% less clarity with every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until it's unreadable.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May behavior.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12070080" y="2194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0A111A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16200000">
              <a:srgbClr val="FFD700">
                <a:alpha val="4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12252960" y="2331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SYMPTOM 03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2252960" y="27432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47-page Notion 'simple task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management' setups with 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databases, 14 relations,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 'alpha score' formula.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just needed a grocery list.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1280160" y="5943600"/>
            <a:ext cx="1572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systems treat hype as a feature, not a bug. There is no built-in de-hype mechanism. Humor is considered a vulnerability.</a:t>
            </a:r>
            <a:endParaRPr lang="en-US" sz="2000" dirty="0"/>
          </a:p>
        </p:txBody>
      </p:sp>
      <p:sp>
        <p:nvSpPr>
          <p:cNvPr id="81" name="Text 79"/>
          <p:cNvSpPr/>
          <p:nvPr/>
        </p:nvSpPr>
        <p:spPr>
          <a:xfrm>
            <a:off x="1280160" y="6766560"/>
            <a:ext cx="1572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result? Beautifully engineered workflows that nobody actually uses after day 2.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// DIAGNOSIS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972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LOOPS FAILED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LOOPDLOOPS.PROTOCOL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DIAGNOSIS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67379" y="9286241"/>
            <a:ext cx="40860" cy="40860"/>
          </a:xfrm>
          <a:prstGeom prst="rect">
            <a:avLst/>
          </a:prstGeom>
          <a:solidFill>
            <a:srgbClr val="00F0FF">
              <a:alpha val="6217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5993685" y="7147370"/>
            <a:ext cx="49233" cy="49233"/>
          </a:xfrm>
          <a:prstGeom prst="rect">
            <a:avLst/>
          </a:prstGeom>
          <a:solidFill>
            <a:srgbClr val="00F0FF">
              <a:alpha val="6955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72130" y="1659261"/>
            <a:ext cx="28584" cy="28584"/>
          </a:xfrm>
          <a:prstGeom prst="rect">
            <a:avLst/>
          </a:prstGeom>
          <a:solidFill>
            <a:srgbClr val="00F0FF">
              <a:alpha val="4314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617851" y="4422520"/>
            <a:ext cx="18312" cy="18312"/>
          </a:xfrm>
          <a:prstGeom prst="rect">
            <a:avLst/>
          </a:prstGeom>
          <a:solidFill>
            <a:srgbClr val="00F0FF">
              <a:alpha val="6173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5225453" y="1170388"/>
            <a:ext cx="36140" cy="36140"/>
          </a:xfrm>
          <a:prstGeom prst="rect">
            <a:avLst/>
          </a:prstGeom>
          <a:solidFill>
            <a:srgbClr val="00F0FF">
              <a:alpha val="5858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35087" y="4864909"/>
            <a:ext cx="45605" cy="45605"/>
          </a:xfrm>
          <a:prstGeom prst="rect">
            <a:avLst/>
          </a:prstGeom>
          <a:solidFill>
            <a:srgbClr val="00F0FF">
              <a:alpha val="6802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570370" y="4642927"/>
            <a:ext cx="21080" cy="21080"/>
          </a:xfrm>
          <a:prstGeom prst="rect">
            <a:avLst/>
          </a:prstGeom>
          <a:solidFill>
            <a:srgbClr val="00F0FF">
              <a:alpha val="6219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327507" y="3596044"/>
            <a:ext cx="37187" cy="37187"/>
          </a:xfrm>
          <a:prstGeom prst="rect">
            <a:avLst/>
          </a:prstGeom>
          <a:solidFill>
            <a:srgbClr val="FF2BD6">
              <a:alpha val="6767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415610" y="7538744"/>
            <a:ext cx="53396" cy="53396"/>
          </a:xfrm>
          <a:prstGeom prst="rect">
            <a:avLst/>
          </a:prstGeom>
          <a:solidFill>
            <a:srgbClr val="FF2BD6">
              <a:alpha val="52143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48215" y="1523551"/>
            <a:ext cx="52212" cy="52212"/>
          </a:xfrm>
          <a:prstGeom prst="rect">
            <a:avLst/>
          </a:prstGeom>
          <a:solidFill>
            <a:srgbClr val="00F0FF">
              <a:alpha val="6106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41688" y="6000427"/>
            <a:ext cx="18845" cy="18845"/>
          </a:xfrm>
          <a:prstGeom prst="rect">
            <a:avLst/>
          </a:prstGeom>
          <a:solidFill>
            <a:srgbClr val="00F0FF">
              <a:alpha val="6434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2146260" y="1256857"/>
            <a:ext cx="18431" cy="18431"/>
          </a:xfrm>
          <a:prstGeom prst="rect">
            <a:avLst/>
          </a:prstGeom>
          <a:solidFill>
            <a:srgbClr val="00F0FF">
              <a:alpha val="5299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83947" y="5019923"/>
            <a:ext cx="41603" cy="41603"/>
          </a:xfrm>
          <a:prstGeom prst="rect">
            <a:avLst/>
          </a:prstGeom>
          <a:solidFill>
            <a:srgbClr val="00F0FF">
              <a:alpha val="558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2681996" y="9149348"/>
            <a:ext cx="20738" cy="20738"/>
          </a:xfrm>
          <a:prstGeom prst="rect">
            <a:avLst/>
          </a:prstGeom>
          <a:solidFill>
            <a:srgbClr val="00F0FF">
              <a:alpha val="460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2359596" y="5164497"/>
            <a:ext cx="53486" cy="53486"/>
          </a:xfrm>
          <a:prstGeom prst="rect">
            <a:avLst/>
          </a:prstGeom>
          <a:solidFill>
            <a:srgbClr val="00F0FF">
              <a:alpha val="6808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5110126" y="6708132"/>
            <a:ext cx="28877" cy="28877"/>
          </a:xfrm>
          <a:prstGeom prst="rect">
            <a:avLst/>
          </a:prstGeom>
          <a:solidFill>
            <a:srgbClr val="00F0FF">
              <a:alpha val="4399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799550" y="4618897"/>
            <a:ext cx="45914" cy="45914"/>
          </a:xfrm>
          <a:prstGeom prst="rect">
            <a:avLst/>
          </a:prstGeom>
          <a:solidFill>
            <a:srgbClr val="00F0FF">
              <a:alpha val="4037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3488179" y="1648034"/>
            <a:ext cx="51880" cy="51880"/>
          </a:xfrm>
          <a:prstGeom prst="rect">
            <a:avLst/>
          </a:prstGeom>
          <a:solidFill>
            <a:srgbClr val="00F0FF">
              <a:alpha val="6491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1768591" y="7353989"/>
            <a:ext cx="53658" cy="53658"/>
          </a:xfrm>
          <a:prstGeom prst="rect">
            <a:avLst/>
          </a:prstGeom>
          <a:solidFill>
            <a:srgbClr val="00F0FF">
              <a:alpha val="5307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6517631" y="2364602"/>
            <a:ext cx="24270" cy="24270"/>
          </a:xfrm>
          <a:prstGeom prst="rect">
            <a:avLst/>
          </a:prstGeom>
          <a:solidFill>
            <a:srgbClr val="00F0FF">
              <a:alpha val="4475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6964569" y="662999"/>
            <a:ext cx="53237" cy="53237"/>
          </a:xfrm>
          <a:prstGeom prst="rect">
            <a:avLst/>
          </a:prstGeom>
          <a:solidFill>
            <a:srgbClr val="00F0FF">
              <a:alpha val="4097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6982623" y="7723303"/>
            <a:ext cx="45843" cy="45843"/>
          </a:xfrm>
          <a:prstGeom prst="rect">
            <a:avLst/>
          </a:prstGeom>
          <a:solidFill>
            <a:srgbClr val="00F0FF">
              <a:alpha val="5054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4078079" y="3152276"/>
            <a:ext cx="32006" cy="32006"/>
          </a:xfrm>
          <a:prstGeom prst="rect">
            <a:avLst/>
          </a:prstGeom>
          <a:solidFill>
            <a:srgbClr val="00F0FF">
              <a:alpha val="5669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030606" y="2975202"/>
            <a:ext cx="24029" cy="24029"/>
          </a:xfrm>
          <a:prstGeom prst="rect">
            <a:avLst/>
          </a:prstGeom>
          <a:solidFill>
            <a:srgbClr val="FF2BD6">
              <a:alpha val="53777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4994062" y="8581884"/>
            <a:ext cx="45055" cy="45055"/>
          </a:xfrm>
          <a:prstGeom prst="rect">
            <a:avLst/>
          </a:prstGeom>
          <a:solidFill>
            <a:srgbClr val="00F0FF">
              <a:alpha val="6392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13453" y="7747727"/>
            <a:ext cx="35592" cy="35592"/>
          </a:xfrm>
          <a:prstGeom prst="rect">
            <a:avLst/>
          </a:prstGeom>
          <a:solidFill>
            <a:srgbClr val="00F0FF">
              <a:alpha val="4370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309569" y="9350452"/>
            <a:ext cx="40457" cy="40457"/>
          </a:xfrm>
          <a:prstGeom prst="rect">
            <a:avLst/>
          </a:prstGeom>
          <a:solidFill>
            <a:srgbClr val="00F0FF">
              <a:alpha val="4081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35468" y="1505824"/>
            <a:ext cx="54343" cy="54343"/>
          </a:xfrm>
          <a:prstGeom prst="rect">
            <a:avLst/>
          </a:prstGeom>
          <a:solidFill>
            <a:srgbClr val="00F0FF">
              <a:alpha val="6070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647034" y="7727045"/>
            <a:ext cx="38078" cy="38078"/>
          </a:xfrm>
          <a:prstGeom prst="rect">
            <a:avLst/>
          </a:prstGeom>
          <a:solidFill>
            <a:srgbClr val="00F0FF">
              <a:alpha val="6328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234019" y="2175120"/>
            <a:ext cx="32416" cy="32416"/>
          </a:xfrm>
          <a:prstGeom prst="rect">
            <a:avLst/>
          </a:prstGeom>
          <a:solidFill>
            <a:srgbClr val="00F0FF">
              <a:alpha val="5958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2330120" y="5640370"/>
            <a:ext cx="40177" cy="40177"/>
          </a:xfrm>
          <a:prstGeom prst="rect">
            <a:avLst/>
          </a:prstGeom>
          <a:solidFill>
            <a:srgbClr val="00F0FF">
              <a:alpha val="6838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520661" y="3856041"/>
            <a:ext cx="42511" cy="42511"/>
          </a:xfrm>
          <a:prstGeom prst="rect">
            <a:avLst/>
          </a:prstGeom>
          <a:solidFill>
            <a:srgbClr val="FF2BD6">
              <a:alpha val="5293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4236515" y="594455"/>
            <a:ext cx="39530" cy="39530"/>
          </a:xfrm>
          <a:prstGeom prst="rect">
            <a:avLst/>
          </a:prstGeom>
          <a:solidFill>
            <a:srgbClr val="00F0FF">
              <a:alpha val="4759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4519858" y="3371895"/>
            <a:ext cx="42184" cy="42184"/>
          </a:xfrm>
          <a:prstGeom prst="rect">
            <a:avLst/>
          </a:prstGeom>
          <a:solidFill>
            <a:srgbClr val="00F0FF">
              <a:alpha val="5447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966896" y="6090244"/>
            <a:ext cx="51940" cy="51940"/>
          </a:xfrm>
          <a:prstGeom prst="rect">
            <a:avLst/>
          </a:prstGeom>
          <a:solidFill>
            <a:srgbClr val="00F0FF">
              <a:alpha val="4015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6558898" y="5374267"/>
            <a:ext cx="28272" cy="28272"/>
          </a:xfrm>
          <a:prstGeom prst="rect">
            <a:avLst/>
          </a:prstGeom>
          <a:solidFill>
            <a:srgbClr val="00F0FF">
              <a:alpha val="6233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5237244" y="4655926"/>
            <a:ext cx="26833" cy="26833"/>
          </a:xfrm>
          <a:prstGeom prst="rect">
            <a:avLst/>
          </a:prstGeom>
          <a:solidFill>
            <a:srgbClr val="FF2BD6">
              <a:alpha val="46462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5609017" y="6005745"/>
            <a:ext cx="32836" cy="32836"/>
          </a:xfrm>
          <a:prstGeom prst="rect">
            <a:avLst/>
          </a:prstGeom>
          <a:solidFill>
            <a:srgbClr val="00F0FF">
              <a:alpha val="5244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2633728" y="8090647"/>
            <a:ext cx="38265" cy="38265"/>
          </a:xfrm>
          <a:prstGeom prst="rect">
            <a:avLst/>
          </a:prstGeom>
          <a:solidFill>
            <a:srgbClr val="FF2BD6">
              <a:alpha val="4131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5914836" y="1068556"/>
            <a:ext cx="33750" cy="33750"/>
          </a:xfrm>
          <a:prstGeom prst="rect">
            <a:avLst/>
          </a:prstGeom>
          <a:solidFill>
            <a:srgbClr val="FF2BD6">
              <a:alpha val="41853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1498144" y="4368354"/>
            <a:ext cx="24823" cy="24823"/>
          </a:xfrm>
          <a:prstGeom prst="rect">
            <a:avLst/>
          </a:prstGeom>
          <a:solidFill>
            <a:srgbClr val="FF2BD6">
              <a:alpha val="57308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893564" y="9509405"/>
            <a:ext cx="35981" cy="35981"/>
          </a:xfrm>
          <a:prstGeom prst="rect">
            <a:avLst/>
          </a:prstGeom>
          <a:solidFill>
            <a:srgbClr val="00F0FF">
              <a:alpha val="420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94474" y="2565312"/>
            <a:ext cx="29406" cy="29406"/>
          </a:xfrm>
          <a:prstGeom prst="rect">
            <a:avLst/>
          </a:prstGeom>
          <a:solidFill>
            <a:srgbClr val="00F0FF">
              <a:alpha val="6814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257558" y="1943880"/>
            <a:ext cx="30950" cy="30950"/>
          </a:xfrm>
          <a:prstGeom prst="rect">
            <a:avLst/>
          </a:prstGeom>
          <a:solidFill>
            <a:srgbClr val="00F0FF">
              <a:alpha val="5223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961688" y="1206630"/>
            <a:ext cx="24469" cy="24469"/>
          </a:xfrm>
          <a:prstGeom prst="rect">
            <a:avLst/>
          </a:prstGeom>
          <a:solidFill>
            <a:srgbClr val="00F0FF">
              <a:alpha val="6198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690160" y="722287"/>
            <a:ext cx="53425" cy="53425"/>
          </a:xfrm>
          <a:prstGeom prst="rect">
            <a:avLst/>
          </a:prstGeom>
          <a:solidFill>
            <a:srgbClr val="00F0FF">
              <a:alpha val="6284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0319819" y="8687853"/>
            <a:ext cx="54263" cy="54263"/>
          </a:xfrm>
          <a:prstGeom prst="rect">
            <a:avLst/>
          </a:prstGeom>
          <a:solidFill>
            <a:srgbClr val="00F0FF">
              <a:alpha val="6473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2079937" y="2327573"/>
            <a:ext cx="43352" cy="43352"/>
          </a:xfrm>
          <a:prstGeom prst="rect">
            <a:avLst/>
          </a:prstGeom>
          <a:solidFill>
            <a:srgbClr val="00F0FF">
              <a:alpha val="6866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4843732" y="5495008"/>
            <a:ext cx="35704" cy="35704"/>
          </a:xfrm>
          <a:prstGeom prst="rect">
            <a:avLst/>
          </a:prstGeom>
          <a:solidFill>
            <a:srgbClr val="FF2BD6">
              <a:alpha val="5344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6117487" y="6986644"/>
            <a:ext cx="24661" cy="24661"/>
          </a:xfrm>
          <a:prstGeom prst="rect">
            <a:avLst/>
          </a:prstGeom>
          <a:solidFill>
            <a:srgbClr val="00F0FF">
              <a:alpha val="6230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4680874" y="4448323"/>
            <a:ext cx="22526" cy="22526"/>
          </a:xfrm>
          <a:prstGeom prst="rect">
            <a:avLst/>
          </a:prstGeom>
          <a:solidFill>
            <a:srgbClr val="00F0FF">
              <a:alpha val="5959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12497030" y="8459568"/>
            <a:ext cx="52442" cy="52442"/>
          </a:xfrm>
          <a:prstGeom prst="rect">
            <a:avLst/>
          </a:prstGeom>
          <a:solidFill>
            <a:srgbClr val="00F0FF">
              <a:alpha val="6744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0892401" y="6795782"/>
            <a:ext cx="18341" cy="18341"/>
          </a:xfrm>
          <a:prstGeom prst="rect">
            <a:avLst/>
          </a:prstGeom>
          <a:solidFill>
            <a:srgbClr val="00F0FF">
              <a:alpha val="4243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1006337" y="8334690"/>
            <a:ext cx="38192" cy="38192"/>
          </a:xfrm>
          <a:prstGeom prst="rect">
            <a:avLst/>
          </a:prstGeom>
          <a:solidFill>
            <a:srgbClr val="00F0FF">
              <a:alpha val="6225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7273336" y="1192054"/>
            <a:ext cx="33536" cy="33536"/>
          </a:xfrm>
          <a:prstGeom prst="rect">
            <a:avLst/>
          </a:prstGeom>
          <a:solidFill>
            <a:srgbClr val="00F0FF">
              <a:alpha val="4235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3267842" y="8881078"/>
            <a:ext cx="38353" cy="38353"/>
          </a:xfrm>
          <a:prstGeom prst="rect">
            <a:avLst/>
          </a:prstGeom>
          <a:solidFill>
            <a:srgbClr val="00F0FF">
              <a:alpha val="6264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870327" y="5562765"/>
            <a:ext cx="20245" cy="20245"/>
          </a:xfrm>
          <a:prstGeom prst="rect">
            <a:avLst/>
          </a:prstGeom>
          <a:solidFill>
            <a:srgbClr val="00F0FF">
              <a:alpha val="4414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3414488" y="2837719"/>
            <a:ext cx="18609" cy="18609"/>
          </a:xfrm>
          <a:prstGeom prst="rect">
            <a:avLst/>
          </a:prstGeom>
          <a:solidFill>
            <a:srgbClr val="00F0FF">
              <a:alpha val="6566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7485650" y="4818622"/>
            <a:ext cx="51168" cy="51168"/>
          </a:xfrm>
          <a:prstGeom prst="rect">
            <a:avLst/>
          </a:prstGeom>
          <a:solidFill>
            <a:srgbClr val="00F0FF">
              <a:alpha val="6042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6514683" y="6088078"/>
            <a:ext cx="44885" cy="44885"/>
          </a:xfrm>
          <a:prstGeom prst="rect">
            <a:avLst/>
          </a:prstGeom>
          <a:solidFill>
            <a:srgbClr val="00F0FF">
              <a:alpha val="6278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353047" y="4972650"/>
            <a:ext cx="47285" cy="47285"/>
          </a:xfrm>
          <a:prstGeom prst="rect">
            <a:avLst/>
          </a:prstGeom>
          <a:solidFill>
            <a:srgbClr val="00F0FF">
              <a:alpha val="4487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12169104" y="4563943"/>
            <a:ext cx="23259" cy="23259"/>
          </a:xfrm>
          <a:prstGeom prst="rect">
            <a:avLst/>
          </a:prstGeom>
          <a:solidFill>
            <a:srgbClr val="00F0FF">
              <a:alpha val="6326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14181246" y="1486718"/>
            <a:ext cx="42009" cy="42009"/>
          </a:xfrm>
          <a:prstGeom prst="rect">
            <a:avLst/>
          </a:prstGeom>
          <a:solidFill>
            <a:srgbClr val="00F0FF">
              <a:alpha val="5565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2712292" y="8362660"/>
            <a:ext cx="49460" cy="49460"/>
          </a:xfrm>
          <a:prstGeom prst="rect">
            <a:avLst/>
          </a:prstGeom>
          <a:solidFill>
            <a:srgbClr val="FF2BD6">
              <a:alpha val="6748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11560045" y="8882851"/>
            <a:ext cx="30825" cy="30825"/>
          </a:xfrm>
          <a:prstGeom prst="rect">
            <a:avLst/>
          </a:prstGeom>
          <a:solidFill>
            <a:srgbClr val="00F0FF">
              <a:alpha val="6868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1280160" y="1463040"/>
            <a:ext cx="1554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'loops' had one fatal flaw:</a:t>
            </a:r>
            <a:endParaRPr lang="en-US" sz="2800" dirty="0"/>
          </a:p>
        </p:txBody>
      </p:sp>
      <p:sp>
        <p:nvSpPr>
          <p:cNvPr id="81" name="Text 79"/>
          <p:cNvSpPr/>
          <p:nvPr/>
        </p:nvSpPr>
        <p:spPr>
          <a:xfrm>
            <a:off x="1280160" y="2011680"/>
            <a:ext cx="1554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2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optimized for looking alpha instead of being useful.</a:t>
            </a:r>
            <a:endParaRPr lang="en-US" sz="2600" dirty="0"/>
          </a:p>
        </p:txBody>
      </p:sp>
      <p:sp>
        <p:nvSpPr>
          <p:cNvPr id="82" name="Shape 80"/>
          <p:cNvSpPr/>
          <p:nvPr/>
        </p:nvSpPr>
        <p:spPr>
          <a:xfrm>
            <a:off x="1097280" y="2743200"/>
            <a:ext cx="7772400" cy="3840480"/>
          </a:xfrm>
          <a:prstGeom prst="roundRect">
            <a:avLst>
              <a:gd name="adj" fmla="val 2381"/>
            </a:avLst>
          </a:prstGeom>
          <a:solidFill>
            <a:srgbClr val="0A111A"/>
          </a:solidFill>
          <a:ln w="19050">
            <a:solidFill>
              <a:srgbClr val="FF2BD6"/>
            </a:solidFill>
            <a:prstDash val="solid"/>
          </a:ln>
          <a:effectLst>
            <a:outerShdw sx="100000" sy="100000" kx="0" ky="0" algn="bl" rotWithShape="0" blurRad="101600" dist="38100" dir="16200000">
              <a:srgbClr val="FF2BD6">
                <a:alpha val="40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1280160" y="28803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BD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THE MAY MINDSET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280160" y="3291840"/>
            <a:ext cx="7406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More agents = more alpha (false)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More critique loops = better output (false)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More jargon = more sophisticated (false)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it doesn't feel complex, it's not 'pro'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Humor = unprofessional (the biggest lie)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state: Over-engineered, under-delivered,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quietly abandoned in the Notion graveyard.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9418320" y="2743200"/>
            <a:ext cx="7772400" cy="3840480"/>
          </a:xfrm>
          <a:prstGeom prst="roundRect">
            <a:avLst>
              <a:gd name="adj" fmla="val 2381"/>
            </a:avLst>
          </a:prstGeom>
          <a:solidFill>
            <a:srgbClr val="0A111A"/>
          </a:solidFill>
          <a:ln w="19050">
            <a:solidFill>
              <a:srgbClr val="00F0FF"/>
            </a:solidFill>
            <a:prstDash val="solid"/>
          </a:ln>
          <a:effectLst>
            <a:outerShdw sx="100000" sy="100000" kx="0" ky="0" algn="bl" rotWithShape="0" blurRad="101600" dist="38100" dir="16200000">
              <a:srgbClr val="00F0FF">
                <a:alpha val="4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9601200" y="28803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THE MISSING INGREDIENT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9601200" y="3291840"/>
            <a:ext cx="7406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Explicit bloat detection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Built-in roast phase (self-deprecation)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Mandatory simplification step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Permission to be funny and human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Anti-hype guardrails that actually trigger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these, loops just loop forever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increasingly impressive circles.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1280160" y="6858000"/>
            <a:ext cx="1572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didn't need more loops. We needed loops with a sense of irony and a self-destruct button for bloat.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// THE UPGRADE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972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LOOP D' LOOPS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LOOPDLOOPS.PROTOCOL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720839" y="8860082"/>
            <a:ext cx="29173" cy="29173"/>
          </a:xfrm>
          <a:prstGeom prst="rect">
            <a:avLst/>
          </a:prstGeom>
          <a:solidFill>
            <a:srgbClr val="FF2BD6">
              <a:alpha val="6315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604759" y="2339075"/>
            <a:ext cx="30265" cy="30265"/>
          </a:xfrm>
          <a:prstGeom prst="rect">
            <a:avLst/>
          </a:prstGeom>
          <a:solidFill>
            <a:srgbClr val="00F0FF">
              <a:alpha val="5983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186577" y="8295572"/>
            <a:ext cx="53135" cy="53135"/>
          </a:xfrm>
          <a:prstGeom prst="rect">
            <a:avLst/>
          </a:prstGeom>
          <a:solidFill>
            <a:srgbClr val="00F0FF">
              <a:alpha val="6106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39511" y="4634536"/>
            <a:ext cx="39645" cy="39645"/>
          </a:xfrm>
          <a:prstGeom prst="rect">
            <a:avLst/>
          </a:prstGeom>
          <a:solidFill>
            <a:srgbClr val="00F0FF">
              <a:alpha val="456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9847" y="7721609"/>
            <a:ext cx="19712" cy="19712"/>
          </a:xfrm>
          <a:prstGeom prst="rect">
            <a:avLst/>
          </a:prstGeom>
          <a:solidFill>
            <a:srgbClr val="00F0FF">
              <a:alpha val="5677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47974" y="6012915"/>
            <a:ext cx="42215" cy="42215"/>
          </a:xfrm>
          <a:prstGeom prst="rect">
            <a:avLst/>
          </a:prstGeom>
          <a:solidFill>
            <a:srgbClr val="00F0FF">
              <a:alpha val="5886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4946310" y="898257"/>
            <a:ext cx="20570" cy="20570"/>
          </a:xfrm>
          <a:prstGeom prst="rect">
            <a:avLst/>
          </a:prstGeom>
          <a:solidFill>
            <a:srgbClr val="00F0FF">
              <a:alpha val="4400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00581" y="7722200"/>
            <a:ext cx="41587" cy="41587"/>
          </a:xfrm>
          <a:prstGeom prst="rect">
            <a:avLst/>
          </a:prstGeom>
          <a:solidFill>
            <a:srgbClr val="00F0FF">
              <a:alpha val="5879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722297" y="7793305"/>
            <a:ext cx="40355" cy="40355"/>
          </a:xfrm>
          <a:prstGeom prst="rect">
            <a:avLst/>
          </a:prstGeom>
          <a:solidFill>
            <a:srgbClr val="00F0FF">
              <a:alpha val="6089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5783076" y="7606777"/>
            <a:ext cx="48145" cy="48145"/>
          </a:xfrm>
          <a:prstGeom prst="rect">
            <a:avLst/>
          </a:prstGeom>
          <a:solidFill>
            <a:srgbClr val="00F0FF">
              <a:alpha val="5578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329522" y="3106658"/>
            <a:ext cx="25784" cy="25784"/>
          </a:xfrm>
          <a:prstGeom prst="rect">
            <a:avLst/>
          </a:prstGeom>
          <a:solidFill>
            <a:srgbClr val="00F0FF">
              <a:alpha val="6337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51387" y="5212833"/>
            <a:ext cx="50602" cy="50602"/>
          </a:xfrm>
          <a:prstGeom prst="rect">
            <a:avLst/>
          </a:prstGeom>
          <a:solidFill>
            <a:srgbClr val="00F0FF">
              <a:alpha val="6466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282368" y="7146463"/>
            <a:ext cx="52268" cy="52268"/>
          </a:xfrm>
          <a:prstGeom prst="rect">
            <a:avLst/>
          </a:prstGeom>
          <a:solidFill>
            <a:srgbClr val="FF2BD6">
              <a:alpha val="48470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07789" y="3830514"/>
            <a:ext cx="48506" cy="48506"/>
          </a:xfrm>
          <a:prstGeom prst="rect">
            <a:avLst/>
          </a:prstGeom>
          <a:solidFill>
            <a:srgbClr val="00F0FF">
              <a:alpha val="6802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58523" y="8227028"/>
            <a:ext cx="39428" cy="39428"/>
          </a:xfrm>
          <a:prstGeom prst="rect">
            <a:avLst/>
          </a:prstGeom>
          <a:solidFill>
            <a:srgbClr val="FF2BD6">
              <a:alpha val="6767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76746" y="9472848"/>
            <a:ext cx="35986" cy="35986"/>
          </a:xfrm>
          <a:prstGeom prst="rect">
            <a:avLst/>
          </a:prstGeom>
          <a:solidFill>
            <a:srgbClr val="00F0FF">
              <a:alpha val="4955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49384" y="1469857"/>
            <a:ext cx="39646" cy="39646"/>
          </a:xfrm>
          <a:prstGeom prst="rect">
            <a:avLst/>
          </a:prstGeom>
          <a:solidFill>
            <a:srgbClr val="00F0FF">
              <a:alpha val="4024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185546" y="8411980"/>
            <a:ext cx="46458" cy="46458"/>
          </a:xfrm>
          <a:prstGeom prst="rect">
            <a:avLst/>
          </a:prstGeom>
          <a:solidFill>
            <a:srgbClr val="00F0FF">
              <a:alpha val="6741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5189492" y="6162019"/>
            <a:ext cx="38923" cy="38923"/>
          </a:xfrm>
          <a:prstGeom prst="rect">
            <a:avLst/>
          </a:prstGeom>
          <a:solidFill>
            <a:srgbClr val="00F0FF">
              <a:alpha val="5654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2696145" y="5980218"/>
            <a:ext cx="38830" cy="38830"/>
          </a:xfrm>
          <a:prstGeom prst="rect">
            <a:avLst/>
          </a:prstGeom>
          <a:solidFill>
            <a:srgbClr val="00F0FF">
              <a:alpha val="6753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5736" y="6533500"/>
            <a:ext cx="38163" cy="38163"/>
          </a:xfrm>
          <a:prstGeom prst="rect">
            <a:avLst/>
          </a:prstGeom>
          <a:solidFill>
            <a:srgbClr val="00F0FF">
              <a:alpha val="6139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71724" y="7169509"/>
            <a:ext cx="27552" cy="27552"/>
          </a:xfrm>
          <a:prstGeom prst="rect">
            <a:avLst/>
          </a:prstGeom>
          <a:solidFill>
            <a:srgbClr val="FF2BD6">
              <a:alpha val="66937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7180632" y="8937687"/>
            <a:ext cx="49105" cy="49105"/>
          </a:xfrm>
          <a:prstGeom prst="rect">
            <a:avLst/>
          </a:prstGeom>
          <a:solidFill>
            <a:srgbClr val="00F0FF">
              <a:alpha val="5739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10932" y="3357398"/>
            <a:ext cx="54167" cy="54167"/>
          </a:xfrm>
          <a:prstGeom prst="rect">
            <a:avLst/>
          </a:prstGeom>
          <a:solidFill>
            <a:srgbClr val="FF2BD6">
              <a:alpha val="47113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6722" y="4071405"/>
            <a:ext cx="41496" cy="41496"/>
          </a:xfrm>
          <a:prstGeom prst="rect">
            <a:avLst/>
          </a:prstGeom>
          <a:solidFill>
            <a:srgbClr val="00F0FF">
              <a:alpha val="4823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44686" y="1918353"/>
            <a:ext cx="36944" cy="36944"/>
          </a:xfrm>
          <a:prstGeom prst="rect">
            <a:avLst/>
          </a:prstGeom>
          <a:solidFill>
            <a:srgbClr val="00F0FF">
              <a:alpha val="6732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83696" y="8839203"/>
            <a:ext cx="24367" cy="24367"/>
          </a:xfrm>
          <a:prstGeom prst="rect">
            <a:avLst/>
          </a:prstGeom>
          <a:solidFill>
            <a:srgbClr val="FF2BD6">
              <a:alpha val="5206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4237768" y="6823240"/>
            <a:ext cx="47228" cy="47228"/>
          </a:xfrm>
          <a:prstGeom prst="rect">
            <a:avLst/>
          </a:prstGeom>
          <a:solidFill>
            <a:srgbClr val="00F0FF">
              <a:alpha val="5792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6002307" y="4067466"/>
            <a:ext cx="41970" cy="41970"/>
          </a:xfrm>
          <a:prstGeom prst="rect">
            <a:avLst/>
          </a:prstGeom>
          <a:solidFill>
            <a:srgbClr val="00F0FF">
              <a:alpha val="6481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4897305" y="5365286"/>
            <a:ext cx="24962" cy="24962"/>
          </a:xfrm>
          <a:prstGeom prst="rect">
            <a:avLst/>
          </a:prstGeom>
          <a:solidFill>
            <a:srgbClr val="00F0FF">
              <a:alpha val="4375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4795980" y="7001101"/>
            <a:ext cx="47795" cy="47795"/>
          </a:xfrm>
          <a:prstGeom prst="rect">
            <a:avLst/>
          </a:prstGeom>
          <a:solidFill>
            <a:srgbClr val="00F0FF">
              <a:alpha val="6352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3204615" y="6961117"/>
            <a:ext cx="30655" cy="30655"/>
          </a:xfrm>
          <a:prstGeom prst="rect">
            <a:avLst/>
          </a:prstGeom>
          <a:solidFill>
            <a:srgbClr val="FF2BD6">
              <a:alpha val="4738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902882" y="2891176"/>
            <a:ext cx="22424" cy="22424"/>
          </a:xfrm>
          <a:prstGeom prst="rect">
            <a:avLst/>
          </a:prstGeom>
          <a:solidFill>
            <a:srgbClr val="FF2BD6">
              <a:alpha val="4967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853918" y="5370801"/>
            <a:ext cx="46245" cy="46245"/>
          </a:xfrm>
          <a:prstGeom prst="rect">
            <a:avLst/>
          </a:prstGeom>
          <a:solidFill>
            <a:srgbClr val="00F0FF">
              <a:alpha val="6253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6574889" y="2175395"/>
            <a:ext cx="42624" cy="42624"/>
          </a:xfrm>
          <a:prstGeom prst="rect">
            <a:avLst/>
          </a:prstGeom>
          <a:solidFill>
            <a:srgbClr val="00F0FF">
              <a:alpha val="4252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823705" y="2182683"/>
            <a:ext cx="19802" cy="19802"/>
          </a:xfrm>
          <a:prstGeom prst="rect">
            <a:avLst/>
          </a:prstGeom>
          <a:solidFill>
            <a:srgbClr val="00F0FF">
              <a:alpha val="6733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7225584" y="2698147"/>
            <a:ext cx="45626" cy="45626"/>
          </a:xfrm>
          <a:prstGeom prst="rect">
            <a:avLst/>
          </a:prstGeom>
          <a:solidFill>
            <a:srgbClr val="FF2BD6">
              <a:alpha val="5243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0354970" y="8855551"/>
            <a:ext cx="44348" cy="44348"/>
          </a:xfrm>
          <a:prstGeom prst="rect">
            <a:avLst/>
          </a:prstGeom>
          <a:solidFill>
            <a:srgbClr val="00F0FF">
              <a:alpha val="477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092335" y="4005618"/>
            <a:ext cx="20143" cy="20143"/>
          </a:xfrm>
          <a:prstGeom prst="rect">
            <a:avLst/>
          </a:prstGeom>
          <a:solidFill>
            <a:srgbClr val="00F0FF">
              <a:alpha val="6423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71376" y="8938672"/>
            <a:ext cx="48987" cy="48987"/>
          </a:xfrm>
          <a:prstGeom prst="rect">
            <a:avLst/>
          </a:prstGeom>
          <a:solidFill>
            <a:srgbClr val="00F0FF">
              <a:alpha val="6074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3168138" y="9387955"/>
            <a:ext cx="38875" cy="38875"/>
          </a:xfrm>
          <a:prstGeom prst="rect">
            <a:avLst/>
          </a:prstGeom>
          <a:solidFill>
            <a:srgbClr val="00F0FF">
              <a:alpha val="6050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141331" y="9125791"/>
            <a:ext cx="26495" cy="26495"/>
          </a:xfrm>
          <a:prstGeom prst="rect">
            <a:avLst/>
          </a:prstGeom>
          <a:solidFill>
            <a:srgbClr val="00F0FF">
              <a:alpha val="6786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305295" y="6478743"/>
            <a:ext cx="22799" cy="22799"/>
          </a:xfrm>
          <a:prstGeom prst="rect">
            <a:avLst/>
          </a:prstGeom>
          <a:solidFill>
            <a:srgbClr val="00F0FF">
              <a:alpha val="5495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256232" y="4538416"/>
            <a:ext cx="29253" cy="29253"/>
          </a:xfrm>
          <a:prstGeom prst="rect">
            <a:avLst/>
          </a:prstGeom>
          <a:solidFill>
            <a:srgbClr val="00F0FF">
              <a:alpha val="4835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403254" y="9119291"/>
            <a:ext cx="41907" cy="41907"/>
          </a:xfrm>
          <a:prstGeom prst="rect">
            <a:avLst/>
          </a:prstGeom>
          <a:solidFill>
            <a:srgbClr val="00F0FF">
              <a:alpha val="4573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1259900" y="5273893"/>
            <a:ext cx="43263" cy="43263"/>
          </a:xfrm>
          <a:prstGeom prst="rect">
            <a:avLst/>
          </a:prstGeom>
          <a:solidFill>
            <a:srgbClr val="FF2BD6">
              <a:alpha val="6256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7242533" y="4262464"/>
            <a:ext cx="18531" cy="18531"/>
          </a:xfrm>
          <a:prstGeom prst="rect">
            <a:avLst/>
          </a:prstGeom>
          <a:solidFill>
            <a:srgbClr val="FF2BD6">
              <a:alpha val="6876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119944" y="4751928"/>
            <a:ext cx="32850" cy="32850"/>
          </a:xfrm>
          <a:prstGeom prst="rect">
            <a:avLst/>
          </a:prstGeom>
          <a:solidFill>
            <a:srgbClr val="00F0FF">
              <a:alpha val="5533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5877032" y="6089929"/>
            <a:ext cx="40273" cy="40273"/>
          </a:xfrm>
          <a:prstGeom prst="rect">
            <a:avLst/>
          </a:prstGeom>
          <a:solidFill>
            <a:srgbClr val="00F0FF">
              <a:alpha val="5108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178160" y="9325910"/>
            <a:ext cx="46333" cy="46333"/>
          </a:xfrm>
          <a:prstGeom prst="rect">
            <a:avLst/>
          </a:prstGeom>
          <a:solidFill>
            <a:srgbClr val="00F0FF">
              <a:alpha val="5924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914681" y="5979233"/>
            <a:ext cx="38949" cy="38949"/>
          </a:xfrm>
          <a:prstGeom prst="rect">
            <a:avLst/>
          </a:prstGeom>
          <a:solidFill>
            <a:srgbClr val="FF2BD6">
              <a:alpha val="6417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17589251" y="9692664"/>
            <a:ext cx="53456" cy="53456"/>
          </a:xfrm>
          <a:prstGeom prst="rect">
            <a:avLst/>
          </a:prstGeom>
          <a:solidFill>
            <a:srgbClr val="FF2BD6">
              <a:alpha val="4800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877115" y="2115123"/>
            <a:ext cx="42553" cy="42553"/>
          </a:xfrm>
          <a:prstGeom prst="rect">
            <a:avLst/>
          </a:prstGeom>
          <a:solidFill>
            <a:srgbClr val="00F0FF">
              <a:alpha val="4730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029304" y="4377296"/>
            <a:ext cx="26674" cy="26674"/>
          </a:xfrm>
          <a:prstGeom prst="rect">
            <a:avLst/>
          </a:prstGeom>
          <a:solidFill>
            <a:srgbClr val="00F0FF">
              <a:alpha val="6975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38396" y="7658185"/>
            <a:ext cx="49281" cy="49281"/>
          </a:xfrm>
          <a:prstGeom prst="rect">
            <a:avLst/>
          </a:prstGeom>
          <a:solidFill>
            <a:srgbClr val="00F0FF">
              <a:alpha val="5082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581236" y="1775354"/>
            <a:ext cx="46817" cy="46817"/>
          </a:xfrm>
          <a:prstGeom prst="rect">
            <a:avLst/>
          </a:prstGeom>
          <a:solidFill>
            <a:srgbClr val="00F0FF">
              <a:alpha val="6042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1087094" y="711926"/>
            <a:ext cx="35651" cy="35651"/>
          </a:xfrm>
          <a:prstGeom prst="rect">
            <a:avLst/>
          </a:prstGeom>
          <a:solidFill>
            <a:srgbClr val="00F0FF">
              <a:alpha val="6956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838468" y="752304"/>
            <a:ext cx="30798" cy="30798"/>
          </a:xfrm>
          <a:prstGeom prst="rect">
            <a:avLst/>
          </a:prstGeom>
          <a:solidFill>
            <a:srgbClr val="00F0FF">
              <a:alpha val="5705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7723083" y="9072413"/>
            <a:ext cx="25596" cy="25596"/>
          </a:xfrm>
          <a:prstGeom prst="rect">
            <a:avLst/>
          </a:prstGeom>
          <a:solidFill>
            <a:srgbClr val="00F0FF">
              <a:alpha val="6611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3329890" y="4938654"/>
            <a:ext cx="32352" cy="32352"/>
          </a:xfrm>
          <a:prstGeom prst="rect">
            <a:avLst/>
          </a:prstGeom>
          <a:solidFill>
            <a:srgbClr val="00F0FF">
              <a:alpha val="6111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431307" y="8120271"/>
            <a:ext cx="37630" cy="37630"/>
          </a:xfrm>
          <a:prstGeom prst="rect">
            <a:avLst/>
          </a:prstGeom>
          <a:solidFill>
            <a:srgbClr val="00F0FF">
              <a:alpha val="6418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10735217" y="6392668"/>
            <a:ext cx="18515" cy="18515"/>
          </a:xfrm>
          <a:prstGeom prst="rect">
            <a:avLst/>
          </a:prstGeom>
          <a:solidFill>
            <a:srgbClr val="00F0FF">
              <a:alpha val="6188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12190253" y="8633569"/>
            <a:ext cx="19823" cy="19823"/>
          </a:xfrm>
          <a:prstGeom prst="rect">
            <a:avLst/>
          </a:prstGeom>
          <a:solidFill>
            <a:srgbClr val="00F0FF">
              <a:alpha val="4190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849472" y="2958735"/>
            <a:ext cx="36249" cy="36249"/>
          </a:xfrm>
          <a:prstGeom prst="rect">
            <a:avLst/>
          </a:prstGeom>
          <a:solidFill>
            <a:srgbClr val="00F0FF">
              <a:alpha val="6971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17050198" y="3691652"/>
            <a:ext cx="28621" cy="28621"/>
          </a:xfrm>
          <a:prstGeom prst="rect">
            <a:avLst/>
          </a:prstGeom>
          <a:solidFill>
            <a:srgbClr val="00F0FF">
              <a:alpha val="4521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9100743" y="3372761"/>
            <a:ext cx="37690" cy="37690"/>
          </a:xfrm>
          <a:prstGeom prst="rect">
            <a:avLst/>
          </a:prstGeom>
          <a:solidFill>
            <a:srgbClr val="FF2BD6">
              <a:alpha val="6942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5525524" y="4412947"/>
            <a:ext cx="29704" cy="29704"/>
          </a:xfrm>
          <a:prstGeom prst="rect">
            <a:avLst/>
          </a:prstGeom>
          <a:solidFill>
            <a:srgbClr val="00F0FF">
              <a:alpha val="4114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10909866" y="1735173"/>
            <a:ext cx="22386" cy="22386"/>
          </a:xfrm>
          <a:prstGeom prst="rect">
            <a:avLst/>
          </a:prstGeom>
          <a:solidFill>
            <a:srgbClr val="00F0FF">
              <a:alpha val="4361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5493920" y="8301481"/>
            <a:ext cx="52425" cy="52425"/>
          </a:xfrm>
          <a:prstGeom prst="rect">
            <a:avLst/>
          </a:prstGeom>
          <a:solidFill>
            <a:srgbClr val="00F0FF">
              <a:alpha val="5118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12701303" y="4058996"/>
            <a:ext cx="21042" cy="21042"/>
          </a:xfrm>
          <a:prstGeom prst="rect">
            <a:avLst/>
          </a:prstGeom>
          <a:solidFill>
            <a:srgbClr val="00F0FF">
              <a:alpha val="6598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1280160" y="1417320"/>
            <a:ext cx="1554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D' LOOPS</a:t>
            </a:r>
            <a:endParaRPr lang="en-US" sz="4800" dirty="0"/>
          </a:p>
        </p:txBody>
      </p:sp>
      <p:sp>
        <p:nvSpPr>
          <p:cNvPr id="86" name="Text 84"/>
          <p:cNvSpPr/>
          <p:nvPr/>
        </p:nvSpPr>
        <p:spPr>
          <a:xfrm>
            <a:off x="1280160" y="210312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Loops... but with a loop-de-loop twist that flings the hype and bloat right out of the system.</a:t>
            </a:r>
            <a:endParaRPr lang="en-US" sz="2400" dirty="0"/>
          </a:p>
        </p:txBody>
      </p:sp>
      <p:sp>
        <p:nvSpPr>
          <p:cNvPr id="87" name="Shape 85"/>
          <p:cNvSpPr/>
          <p:nvPr/>
        </p:nvSpPr>
        <p:spPr>
          <a:xfrm>
            <a:off x="1280160" y="2926080"/>
            <a:ext cx="7772400" cy="1371600"/>
          </a:xfrm>
          <a:prstGeom prst="roundRect">
            <a:avLst>
              <a:gd name="adj" fmla="val 5333"/>
            </a:avLst>
          </a:prstGeom>
          <a:solidFill>
            <a:srgbClr val="0A111A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508760" y="30632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</a:t>
            </a:r>
            <a:endParaRPr lang="en-US" sz="4200" dirty="0"/>
          </a:p>
        </p:txBody>
      </p:sp>
      <p:sp>
        <p:nvSpPr>
          <p:cNvPr id="89" name="Text 87"/>
          <p:cNvSpPr/>
          <p:nvPr/>
        </p:nvSpPr>
        <p:spPr>
          <a:xfrm>
            <a:off x="2651760" y="3108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DE-HYPE</a:t>
            </a:r>
            <a:endParaRPr lang="en-US" sz="2000" dirty="0"/>
          </a:p>
        </p:txBody>
      </p:sp>
      <p:sp>
        <p:nvSpPr>
          <p:cNvPr id="90" name="Text 88"/>
          <p:cNvSpPr/>
          <p:nvPr/>
        </p:nvSpPr>
        <p:spPr>
          <a:xfrm>
            <a:off x="2651760" y="36118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roast of over-engineering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9509760" y="2926080"/>
            <a:ext cx="7772400" cy="1371600"/>
          </a:xfrm>
          <a:prstGeom prst="roundRect">
            <a:avLst>
              <a:gd name="adj" fmla="val 5333"/>
            </a:avLst>
          </a:prstGeom>
          <a:solidFill>
            <a:srgbClr val="0A111A"/>
          </a:solidFill>
          <a:ln w="19050">
            <a:solidFill>
              <a:srgbClr val="FF2BD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738360" y="30632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2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</a:t>
            </a:r>
            <a:endParaRPr lang="en-US" sz="4200" dirty="0"/>
          </a:p>
        </p:txBody>
      </p:sp>
      <p:sp>
        <p:nvSpPr>
          <p:cNvPr id="93" name="Text 91"/>
          <p:cNvSpPr/>
          <p:nvPr/>
        </p:nvSpPr>
        <p:spPr>
          <a:xfrm>
            <a:off x="10881360" y="3108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DELIGHT</a:t>
            </a:r>
            <a:endParaRPr lang="en-US" sz="2000" dirty="0"/>
          </a:p>
        </p:txBody>
      </p:sp>
      <p:sp>
        <p:nvSpPr>
          <p:cNvPr id="94" name="Text 92"/>
          <p:cNvSpPr/>
          <p:nvPr/>
        </p:nvSpPr>
        <p:spPr>
          <a:xfrm>
            <a:off x="10881360" y="36118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personality so humans actually use it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1280160" y="4480560"/>
            <a:ext cx="7772400" cy="1371600"/>
          </a:xfrm>
          <a:prstGeom prst="roundRect">
            <a:avLst>
              <a:gd name="adj" fmla="val 5333"/>
            </a:avLst>
          </a:prstGeom>
          <a:solidFill>
            <a:srgbClr val="0A111A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508760" y="4617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</a:t>
            </a:r>
            <a:endParaRPr lang="en-US" sz="4200" dirty="0"/>
          </a:p>
        </p:txBody>
      </p:sp>
      <p:sp>
        <p:nvSpPr>
          <p:cNvPr id="97" name="Text 95"/>
          <p:cNvSpPr/>
          <p:nvPr/>
        </p:nvSpPr>
        <p:spPr>
          <a:xfrm>
            <a:off x="2651760" y="46634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DOUBLE</a:t>
            </a:r>
            <a:endParaRPr lang="en-US" sz="2000" dirty="0"/>
          </a:p>
        </p:txBody>
      </p:sp>
      <p:sp>
        <p:nvSpPr>
          <p:cNvPr id="98" name="Text 96"/>
          <p:cNvSpPr/>
          <p:nvPr/>
        </p:nvSpPr>
        <p:spPr>
          <a:xfrm>
            <a:off x="2651760" y="516636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passes: complex → simple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9509760" y="4480560"/>
            <a:ext cx="7772400" cy="1371600"/>
          </a:xfrm>
          <a:prstGeom prst="roundRect">
            <a:avLst>
              <a:gd name="adj" fmla="val 5333"/>
            </a:avLst>
          </a:prstGeom>
          <a:solidFill>
            <a:srgbClr val="0A111A"/>
          </a:solidFill>
          <a:ln w="19050">
            <a:solidFill>
              <a:srgbClr val="FF2BD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738360" y="4617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2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</a:t>
            </a:r>
            <a:endParaRPr lang="en-US" sz="4200" dirty="0"/>
          </a:p>
        </p:txBody>
      </p:sp>
      <p:sp>
        <p:nvSpPr>
          <p:cNvPr id="101" name="Text 99"/>
          <p:cNvSpPr/>
          <p:nvPr/>
        </p:nvSpPr>
        <p:spPr>
          <a:xfrm>
            <a:off x="10881360" y="46634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DE-LOOP</a:t>
            </a:r>
            <a:endParaRPr lang="en-US" sz="2000" dirty="0"/>
          </a:p>
        </p:txBody>
      </p:sp>
      <p:sp>
        <p:nvSpPr>
          <p:cNvPr id="102" name="Text 100"/>
          <p:cNvSpPr/>
          <p:nvPr/>
        </p:nvSpPr>
        <p:spPr>
          <a:xfrm>
            <a:off x="10881360" y="516636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simplification trigger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1280160" y="6217920"/>
            <a:ext cx="1572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still iterative. But now the iteration has a sense of humor and a built-in bullshit detector.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// THE PROTOCOL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972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4-PHASE D' LOOP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LOOPDLOOPS.PROTOCOL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THE WORKFLOW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08992" y="3254463"/>
            <a:ext cx="47521" cy="47521"/>
          </a:xfrm>
          <a:prstGeom prst="rect">
            <a:avLst/>
          </a:prstGeom>
          <a:solidFill>
            <a:srgbClr val="00F0FF">
              <a:alpha val="686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3998" y="8215879"/>
            <a:ext cx="29064" cy="29064"/>
          </a:xfrm>
          <a:prstGeom prst="rect">
            <a:avLst/>
          </a:prstGeom>
          <a:solidFill>
            <a:srgbClr val="00F0FF">
              <a:alpha val="4171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20351" y="2226686"/>
            <a:ext cx="39385" cy="39385"/>
          </a:xfrm>
          <a:prstGeom prst="rect">
            <a:avLst/>
          </a:prstGeom>
          <a:solidFill>
            <a:srgbClr val="00F0FF">
              <a:alpha val="4916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6842" y="2333245"/>
            <a:ext cx="33892" cy="33892"/>
          </a:xfrm>
          <a:prstGeom prst="rect">
            <a:avLst/>
          </a:prstGeom>
          <a:solidFill>
            <a:srgbClr val="FF2BD6">
              <a:alpha val="5198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4217650" y="7883201"/>
            <a:ext cx="39791" cy="39791"/>
          </a:xfrm>
          <a:prstGeom prst="rect">
            <a:avLst/>
          </a:prstGeom>
          <a:solidFill>
            <a:srgbClr val="00F0FF">
              <a:alpha val="4898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397858" y="1546557"/>
            <a:ext cx="26038" cy="26038"/>
          </a:xfrm>
          <a:prstGeom prst="rect">
            <a:avLst/>
          </a:prstGeom>
          <a:solidFill>
            <a:srgbClr val="00F0FF">
              <a:alpha val="4339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418099" y="2411835"/>
            <a:ext cx="53706" cy="53706"/>
          </a:xfrm>
          <a:prstGeom prst="rect">
            <a:avLst/>
          </a:prstGeom>
          <a:solidFill>
            <a:srgbClr val="00F0FF">
              <a:alpha val="495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81029" y="5742360"/>
            <a:ext cx="48401" cy="48401"/>
          </a:xfrm>
          <a:prstGeom prst="rect">
            <a:avLst/>
          </a:prstGeom>
          <a:solidFill>
            <a:srgbClr val="00F0FF">
              <a:alpha val="4965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52613" y="2376775"/>
            <a:ext cx="35975" cy="35975"/>
          </a:xfrm>
          <a:prstGeom prst="rect">
            <a:avLst/>
          </a:prstGeom>
          <a:solidFill>
            <a:srgbClr val="00F0FF">
              <a:alpha val="5019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83882" y="4256043"/>
            <a:ext cx="36860" cy="36860"/>
          </a:xfrm>
          <a:prstGeom prst="rect">
            <a:avLst/>
          </a:prstGeom>
          <a:solidFill>
            <a:srgbClr val="00F0FF">
              <a:alpha val="5890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76694" y="2559167"/>
            <a:ext cx="21366" cy="21366"/>
          </a:xfrm>
          <a:prstGeom prst="rect">
            <a:avLst/>
          </a:prstGeom>
          <a:solidFill>
            <a:srgbClr val="FF2BD6">
              <a:alpha val="41223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7098614" y="5483151"/>
            <a:ext cx="35666" cy="35666"/>
          </a:xfrm>
          <a:prstGeom prst="rect">
            <a:avLst/>
          </a:prstGeom>
          <a:solidFill>
            <a:srgbClr val="00F0FF">
              <a:alpha val="6707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97472" y="8631678"/>
            <a:ext cx="22977" cy="22977"/>
          </a:xfrm>
          <a:prstGeom prst="rect">
            <a:avLst/>
          </a:prstGeom>
          <a:solidFill>
            <a:srgbClr val="00F0FF">
              <a:alpha val="4746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327926" y="8289151"/>
            <a:ext cx="34887" cy="34887"/>
          </a:xfrm>
          <a:prstGeom prst="rect">
            <a:avLst/>
          </a:prstGeom>
          <a:solidFill>
            <a:srgbClr val="00F0FF">
              <a:alpha val="5119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6261" y="2441774"/>
            <a:ext cx="28162" cy="28162"/>
          </a:xfrm>
          <a:prstGeom prst="rect">
            <a:avLst/>
          </a:prstGeom>
          <a:solidFill>
            <a:srgbClr val="FF2BD6">
              <a:alpha val="6151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91428" y="7114830"/>
            <a:ext cx="51681" cy="51681"/>
          </a:xfrm>
          <a:prstGeom prst="rect">
            <a:avLst/>
          </a:prstGeom>
          <a:solidFill>
            <a:srgbClr val="00F0FF">
              <a:alpha val="4276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367285" y="5318683"/>
            <a:ext cx="18859" cy="18859"/>
          </a:xfrm>
          <a:prstGeom prst="rect">
            <a:avLst/>
          </a:prstGeom>
          <a:solidFill>
            <a:srgbClr val="00F0FF">
              <a:alpha val="4707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59555" y="3208175"/>
            <a:ext cx="53084" cy="53084"/>
          </a:xfrm>
          <a:prstGeom prst="rect">
            <a:avLst/>
          </a:prstGeom>
          <a:solidFill>
            <a:srgbClr val="00F0FF">
              <a:alpha val="6102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98311" y="9661031"/>
            <a:ext cx="52869" cy="52869"/>
          </a:xfrm>
          <a:prstGeom prst="rect">
            <a:avLst/>
          </a:prstGeom>
          <a:solidFill>
            <a:srgbClr val="00F0FF">
              <a:alpha val="4229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1636610" y="3603292"/>
            <a:ext cx="49483" cy="49483"/>
          </a:xfrm>
          <a:prstGeom prst="rect">
            <a:avLst/>
          </a:prstGeom>
          <a:solidFill>
            <a:srgbClr val="00F0FF">
              <a:alpha val="5635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930336" y="8548164"/>
            <a:ext cx="40330" cy="40330"/>
          </a:xfrm>
          <a:prstGeom prst="rect">
            <a:avLst/>
          </a:prstGeom>
          <a:solidFill>
            <a:srgbClr val="00F0FF">
              <a:alpha val="6310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59961" y="7846368"/>
            <a:ext cx="29588" cy="29588"/>
          </a:xfrm>
          <a:prstGeom prst="rect">
            <a:avLst/>
          </a:prstGeom>
          <a:solidFill>
            <a:srgbClr val="00F0FF">
              <a:alpha val="4357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568462" y="3908789"/>
            <a:ext cx="20078" cy="20078"/>
          </a:xfrm>
          <a:prstGeom prst="rect">
            <a:avLst/>
          </a:prstGeom>
          <a:solidFill>
            <a:srgbClr val="00F0FF">
              <a:alpha val="4654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2831884" y="848110"/>
            <a:ext cx="29523" cy="29523"/>
          </a:xfrm>
          <a:prstGeom prst="rect">
            <a:avLst/>
          </a:prstGeom>
          <a:solidFill>
            <a:srgbClr val="00F0FF">
              <a:alpha val="6525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699658" y="2436653"/>
            <a:ext cx="21462" cy="21462"/>
          </a:xfrm>
          <a:prstGeom prst="rect">
            <a:avLst/>
          </a:prstGeom>
          <a:solidFill>
            <a:srgbClr val="00F0FF">
              <a:alpha val="4407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95401" y="7000983"/>
            <a:ext cx="43420" cy="43420"/>
          </a:xfrm>
          <a:prstGeom prst="rect">
            <a:avLst/>
          </a:prstGeom>
          <a:solidFill>
            <a:srgbClr val="FF2BD6">
              <a:alpha val="4512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115318" y="8442983"/>
            <a:ext cx="23712" cy="23712"/>
          </a:xfrm>
          <a:prstGeom prst="rect">
            <a:avLst/>
          </a:prstGeom>
          <a:solidFill>
            <a:srgbClr val="00F0FF">
              <a:alpha val="6497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859241" y="3387416"/>
            <a:ext cx="31540" cy="31540"/>
          </a:xfrm>
          <a:prstGeom prst="rect">
            <a:avLst/>
          </a:prstGeom>
          <a:solidFill>
            <a:srgbClr val="FF2BD6">
              <a:alpha val="41320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5340706" y="4455965"/>
            <a:ext cx="49405" cy="49405"/>
          </a:xfrm>
          <a:prstGeom prst="rect">
            <a:avLst/>
          </a:prstGeom>
          <a:solidFill>
            <a:srgbClr val="FF2BD6">
              <a:alpha val="4961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594639" y="4529434"/>
            <a:ext cx="25944" cy="25944"/>
          </a:xfrm>
          <a:prstGeom prst="rect">
            <a:avLst/>
          </a:prstGeom>
          <a:solidFill>
            <a:srgbClr val="FF2BD6">
              <a:alpha val="59768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961991" y="2274746"/>
            <a:ext cx="26293" cy="26293"/>
          </a:xfrm>
          <a:prstGeom prst="rect">
            <a:avLst/>
          </a:prstGeom>
          <a:solidFill>
            <a:srgbClr val="00F0FF">
              <a:alpha val="6280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855498" y="6229264"/>
            <a:ext cx="41082" cy="41082"/>
          </a:xfrm>
          <a:prstGeom prst="rect">
            <a:avLst/>
          </a:prstGeom>
          <a:solidFill>
            <a:srgbClr val="00F0FF">
              <a:alpha val="5750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3511687" y="8252712"/>
            <a:ext cx="39267" cy="39267"/>
          </a:xfrm>
          <a:prstGeom prst="rect">
            <a:avLst/>
          </a:prstGeom>
          <a:solidFill>
            <a:srgbClr val="FF2BD6">
              <a:alpha val="47127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249747" y="9054173"/>
            <a:ext cx="45345" cy="45345"/>
          </a:xfrm>
          <a:prstGeom prst="rect">
            <a:avLst/>
          </a:prstGeom>
          <a:solidFill>
            <a:srgbClr val="00F0FF">
              <a:alpha val="4601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763057" y="3896971"/>
            <a:ext cx="21498" cy="21498"/>
          </a:xfrm>
          <a:prstGeom prst="rect">
            <a:avLst/>
          </a:prstGeom>
          <a:solidFill>
            <a:srgbClr val="00F0FF">
              <a:alpha val="6630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108301" y="1999188"/>
            <a:ext cx="30154" cy="30154"/>
          </a:xfrm>
          <a:prstGeom prst="rect">
            <a:avLst/>
          </a:prstGeom>
          <a:solidFill>
            <a:srgbClr val="00F0FF">
              <a:alpha val="5455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155070" y="6112068"/>
            <a:ext cx="18593" cy="18593"/>
          </a:xfrm>
          <a:prstGeom prst="rect">
            <a:avLst/>
          </a:prstGeom>
          <a:solidFill>
            <a:srgbClr val="00F0FF">
              <a:alpha val="4846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495942" y="7414615"/>
            <a:ext cx="30278" cy="30278"/>
          </a:xfrm>
          <a:prstGeom prst="rect">
            <a:avLst/>
          </a:prstGeom>
          <a:solidFill>
            <a:srgbClr val="FF2BD6">
              <a:alpha val="43498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5198482" y="4914112"/>
            <a:ext cx="38228" cy="38228"/>
          </a:xfrm>
          <a:prstGeom prst="rect">
            <a:avLst/>
          </a:prstGeom>
          <a:solidFill>
            <a:srgbClr val="00F0FF">
              <a:alpha val="4955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110520" y="3403961"/>
            <a:ext cx="22236" cy="22236"/>
          </a:xfrm>
          <a:prstGeom prst="rect">
            <a:avLst/>
          </a:prstGeom>
          <a:solidFill>
            <a:srgbClr val="FF2BD6">
              <a:alpha val="6765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486714" y="8358287"/>
            <a:ext cx="33892" cy="33892"/>
          </a:xfrm>
          <a:prstGeom prst="rect">
            <a:avLst/>
          </a:prstGeom>
          <a:solidFill>
            <a:srgbClr val="00F0FF">
              <a:alpha val="4659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3833350" y="8573572"/>
            <a:ext cx="29961" cy="29961"/>
          </a:xfrm>
          <a:prstGeom prst="rect">
            <a:avLst/>
          </a:prstGeom>
          <a:solidFill>
            <a:srgbClr val="00F0FF">
              <a:alpha val="5962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5739377" y="1695661"/>
            <a:ext cx="22746" cy="22746"/>
          </a:xfrm>
          <a:prstGeom prst="rect">
            <a:avLst/>
          </a:prstGeom>
          <a:solidFill>
            <a:srgbClr val="00F0FF">
              <a:alpha val="4107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11167933" y="7493796"/>
            <a:ext cx="35391" cy="35391"/>
          </a:xfrm>
          <a:prstGeom prst="rect">
            <a:avLst/>
          </a:prstGeom>
          <a:solidFill>
            <a:srgbClr val="00F0FF">
              <a:alpha val="4310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445464" y="4553661"/>
            <a:ext cx="44977" cy="44977"/>
          </a:xfrm>
          <a:prstGeom prst="rect">
            <a:avLst/>
          </a:prstGeom>
          <a:solidFill>
            <a:srgbClr val="FF2BD6">
              <a:alpha val="52258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2092760" y="1752979"/>
            <a:ext cx="23172" cy="23172"/>
          </a:xfrm>
          <a:prstGeom prst="rect">
            <a:avLst/>
          </a:prstGeom>
          <a:solidFill>
            <a:srgbClr val="FF2BD6">
              <a:alpha val="5623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781439" y="5586953"/>
            <a:ext cx="37820" cy="37820"/>
          </a:xfrm>
          <a:prstGeom prst="rect">
            <a:avLst/>
          </a:prstGeom>
          <a:solidFill>
            <a:srgbClr val="FF2BD6">
              <a:alpha val="6050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3848825" y="2809907"/>
            <a:ext cx="49749" cy="49749"/>
          </a:xfrm>
          <a:prstGeom prst="rect">
            <a:avLst/>
          </a:prstGeom>
          <a:solidFill>
            <a:srgbClr val="00F0FF">
              <a:alpha val="5496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0793950" y="4341724"/>
            <a:ext cx="26561" cy="26561"/>
          </a:xfrm>
          <a:prstGeom prst="rect">
            <a:avLst/>
          </a:prstGeom>
          <a:solidFill>
            <a:srgbClr val="00F0FF">
              <a:alpha val="5063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4950511" y="3403567"/>
            <a:ext cx="44229" cy="44229"/>
          </a:xfrm>
          <a:prstGeom prst="rect">
            <a:avLst/>
          </a:prstGeom>
          <a:solidFill>
            <a:srgbClr val="00F0FF">
              <a:alpha val="6631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1280160" y="141732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D' Loops Protocol (for any task)</a:t>
            </a:r>
            <a:endParaRPr lang="en-US" sz="2600" dirty="0"/>
          </a:p>
        </p:txBody>
      </p:sp>
      <p:sp>
        <p:nvSpPr>
          <p:cNvPr id="66" name="Shape 64"/>
          <p:cNvSpPr/>
          <p:nvPr/>
        </p:nvSpPr>
        <p:spPr>
          <a:xfrm>
            <a:off x="1280160" y="2011680"/>
            <a:ext cx="822960" cy="822960"/>
          </a:xfrm>
          <a:prstGeom prst="ellipse">
            <a:avLst/>
          </a:prstGeom>
          <a:solidFill>
            <a:srgbClr val="FF2BD6"/>
          </a:solidFill>
          <a:ln/>
          <a:effectLst>
            <a:outerShdw sx="100000" sy="100000" kx="0" ky="0" algn="bl" rotWithShape="0" blurRad="76200" dist="25400" dir="16200000">
              <a:srgbClr val="FF2BD6">
                <a:alpha val="5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12801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0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2286000" y="20116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BD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HYPE LOOP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2286000" y="251460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full May 2025 alpha version: 12 agents, 7 critique loops, scoring rubrics, Notion templates, the works. Go full bro.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280160" y="3840480"/>
            <a:ext cx="822960" cy="822960"/>
          </a:xfrm>
          <a:prstGeom prst="ellipse">
            <a:avLst/>
          </a:prstGeom>
          <a:solidFill>
            <a:srgbClr val="00F0FF"/>
          </a:solidFill>
          <a:ln/>
          <a:effectLst>
            <a:outerShdw sx="100000" sy="100000" kx="0" ky="0" algn="bl" rotWithShape="0" blurRad="76200" dist="25400" dir="16200000">
              <a:srgbClr val="00F0FF">
                <a:alpha val="5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1280160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0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2286000" y="38404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ROAST LOOP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2286000" y="434340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the D': 'Bro, that's so May.' Identify exactly 3 things that are overkill, jargon-heavy, or would get abandoned in 48 hours.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280160" y="5669280"/>
            <a:ext cx="822960" cy="822960"/>
          </a:xfrm>
          <a:prstGeom prst="ellipse">
            <a:avLst/>
          </a:prstGeom>
          <a:solidFill>
            <a:srgbClr val="39FF14"/>
          </a:solidFill>
          <a:ln/>
          <a:effectLst>
            <a:outerShdw sx="100000" sy="100000" kx="0" ky="0" algn="bl" rotWithShape="0" blurRad="76200" dist="25400" dir="16200000">
              <a:srgbClr val="39FF14">
                <a:alpha val="5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1280160" y="5669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0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76" name="Text 74"/>
          <p:cNvSpPr/>
          <p:nvPr/>
        </p:nvSpPr>
        <p:spPr>
          <a:xfrm>
            <a:off x="2286000" y="56692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DE-LOOP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2286000" y="617220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it to the 1-3 actions that actually move the needle. Add ironic humor, personality, and one 'loop de loop' delightful twist.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1280160" y="7498080"/>
            <a:ext cx="822960" cy="822960"/>
          </a:xfrm>
          <a:prstGeom prst="ellipse">
            <a:avLst/>
          </a:prstGeom>
          <a:solidFill>
            <a:srgbClr val="FFD700"/>
          </a:solidFill>
          <a:ln/>
          <a:effectLst>
            <a:outerShdw sx="100000" sy="100000" kx="0" ky="0" algn="bl" rotWithShape="0" blurRad="76200" dist="25400" dir="16200000">
              <a:srgbClr val="FFD700">
                <a:alpha val="5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1280160" y="7498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0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80" name="Text 78"/>
          <p:cNvSpPr/>
          <p:nvPr/>
        </p:nvSpPr>
        <p:spPr>
          <a:xfrm>
            <a:off x="2286000" y="749808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DOUBLE D'</a:t>
            </a:r>
            <a:endParaRPr lang="en-US" sz="2200" dirty="0"/>
          </a:p>
        </p:txBody>
      </p:sp>
      <p:sp>
        <p:nvSpPr>
          <p:cNvPr id="81" name="Text 79"/>
          <p:cNvSpPr/>
          <p:nvPr/>
        </p:nvSpPr>
        <p:spPr>
          <a:xfrm>
            <a:off x="2286000" y="800100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check: Would a normal human use this without eye-rolling? Is it fun? Does it have built-in anti-hype protection? Ship or iterate once more.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// PROOF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972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LOOPDLOOPS.PROTOCOL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REAL EXAMPLE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84153" y="2970357"/>
            <a:ext cx="27537" cy="27537"/>
          </a:xfrm>
          <a:prstGeom prst="rect">
            <a:avLst/>
          </a:prstGeom>
          <a:solidFill>
            <a:srgbClr val="00F0FF">
              <a:alpha val="4927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91620" y="5010350"/>
            <a:ext cx="52995" cy="52995"/>
          </a:xfrm>
          <a:prstGeom prst="rect">
            <a:avLst/>
          </a:prstGeom>
          <a:solidFill>
            <a:srgbClr val="00F0FF">
              <a:alpha val="6523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409" y="9714133"/>
            <a:ext cx="43560" cy="43560"/>
          </a:xfrm>
          <a:prstGeom prst="rect">
            <a:avLst/>
          </a:prstGeom>
          <a:solidFill>
            <a:srgbClr val="00F0FF">
              <a:alpha val="6110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18429" y="8601069"/>
            <a:ext cx="23730" cy="23730"/>
          </a:xfrm>
          <a:prstGeom prst="rect">
            <a:avLst/>
          </a:prstGeom>
          <a:solidFill>
            <a:srgbClr val="00F0FF">
              <a:alpha val="5124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7241059" y="6124202"/>
            <a:ext cx="28839" cy="28839"/>
          </a:xfrm>
          <a:prstGeom prst="rect">
            <a:avLst/>
          </a:prstGeom>
          <a:solidFill>
            <a:srgbClr val="FF2BD6">
              <a:alpha val="47780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09543" y="2311894"/>
            <a:ext cx="48162" cy="48162"/>
          </a:xfrm>
          <a:prstGeom prst="rect">
            <a:avLst/>
          </a:prstGeom>
          <a:solidFill>
            <a:srgbClr val="FF2BD6">
              <a:alpha val="5728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74912" y="9105109"/>
            <a:ext cx="28981" cy="28981"/>
          </a:xfrm>
          <a:prstGeom prst="rect">
            <a:avLst/>
          </a:prstGeom>
          <a:solidFill>
            <a:srgbClr val="00F0FF">
              <a:alpha val="5744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29744" y="8493131"/>
            <a:ext cx="51334" cy="51334"/>
          </a:xfrm>
          <a:prstGeom prst="rect">
            <a:avLst/>
          </a:prstGeom>
          <a:solidFill>
            <a:srgbClr val="00F0FF">
              <a:alpha val="4372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4350884" y="8672962"/>
            <a:ext cx="51664" cy="51664"/>
          </a:xfrm>
          <a:prstGeom prst="rect">
            <a:avLst/>
          </a:prstGeom>
          <a:solidFill>
            <a:srgbClr val="00F0FF">
              <a:alpha val="5603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76882" y="5248287"/>
            <a:ext cx="46340" cy="46340"/>
          </a:xfrm>
          <a:prstGeom prst="rect">
            <a:avLst/>
          </a:prstGeom>
          <a:solidFill>
            <a:srgbClr val="00F0FF">
              <a:alpha val="6538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71676" y="3693228"/>
            <a:ext cx="50377" cy="50377"/>
          </a:xfrm>
          <a:prstGeom prst="rect">
            <a:avLst/>
          </a:prstGeom>
          <a:solidFill>
            <a:srgbClr val="00F0FF">
              <a:alpha val="5057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41552" y="1993988"/>
            <a:ext cx="20537" cy="20537"/>
          </a:xfrm>
          <a:prstGeom prst="rect">
            <a:avLst/>
          </a:prstGeom>
          <a:solidFill>
            <a:srgbClr val="00F0FF">
              <a:alpha val="5485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179" y="6986132"/>
            <a:ext cx="42279" cy="42279"/>
          </a:xfrm>
          <a:prstGeom prst="rect">
            <a:avLst/>
          </a:prstGeom>
          <a:solidFill>
            <a:srgbClr val="00F0FF">
              <a:alpha val="4255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08695" y="1680022"/>
            <a:ext cx="29015" cy="29015"/>
          </a:xfrm>
          <a:prstGeom prst="rect">
            <a:avLst/>
          </a:prstGeom>
          <a:solidFill>
            <a:srgbClr val="FF2BD6">
              <a:alpha val="6582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5546" y="1420222"/>
            <a:ext cx="30982" cy="30982"/>
          </a:xfrm>
          <a:prstGeom prst="rect">
            <a:avLst/>
          </a:prstGeom>
          <a:solidFill>
            <a:srgbClr val="00F0FF">
              <a:alpha val="5123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66082" y="5894734"/>
            <a:ext cx="19844" cy="19844"/>
          </a:xfrm>
          <a:prstGeom prst="rect">
            <a:avLst/>
          </a:prstGeom>
          <a:solidFill>
            <a:srgbClr val="FF2BD6">
              <a:alpha val="46468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3664081" y="3219324"/>
            <a:ext cx="26873" cy="26873"/>
          </a:xfrm>
          <a:prstGeom prst="rect">
            <a:avLst/>
          </a:prstGeom>
          <a:solidFill>
            <a:srgbClr val="00F0FF">
              <a:alpha val="5698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54707" y="7717473"/>
            <a:ext cx="49470" cy="49470"/>
          </a:xfrm>
          <a:prstGeom prst="rect">
            <a:avLst/>
          </a:prstGeom>
          <a:solidFill>
            <a:srgbClr val="00F0FF">
              <a:alpha val="4269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7109152" y="2739904"/>
            <a:ext cx="18661" cy="18661"/>
          </a:xfrm>
          <a:prstGeom prst="rect">
            <a:avLst/>
          </a:prstGeom>
          <a:solidFill>
            <a:srgbClr val="00F0FF">
              <a:alpha val="4461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88953" y="9076943"/>
            <a:ext cx="46997" cy="46997"/>
          </a:xfrm>
          <a:prstGeom prst="rect">
            <a:avLst/>
          </a:prstGeom>
          <a:solidFill>
            <a:srgbClr val="00F0FF">
              <a:alpha val="5154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651594" y="3272111"/>
            <a:ext cx="42473" cy="42473"/>
          </a:xfrm>
          <a:prstGeom prst="rect">
            <a:avLst/>
          </a:prstGeom>
          <a:solidFill>
            <a:srgbClr val="00F0FF">
              <a:alpha val="5672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846508" y="7477172"/>
            <a:ext cx="41778" cy="41778"/>
          </a:xfrm>
          <a:prstGeom prst="rect">
            <a:avLst/>
          </a:prstGeom>
          <a:solidFill>
            <a:srgbClr val="00F0FF">
              <a:alpha val="6449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06591" y="1639250"/>
            <a:ext cx="19285" cy="19285"/>
          </a:xfrm>
          <a:prstGeom prst="rect">
            <a:avLst/>
          </a:prstGeom>
          <a:solidFill>
            <a:srgbClr val="00F0FF">
              <a:alpha val="4700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2618769" y="7229387"/>
            <a:ext cx="49616" cy="49616"/>
          </a:xfrm>
          <a:prstGeom prst="rect">
            <a:avLst/>
          </a:prstGeom>
          <a:solidFill>
            <a:srgbClr val="00F0FF">
              <a:alpha val="6081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4392151" y="2492907"/>
            <a:ext cx="19090" cy="19090"/>
          </a:xfrm>
          <a:prstGeom prst="rect">
            <a:avLst/>
          </a:prstGeom>
          <a:solidFill>
            <a:srgbClr val="FF2BD6">
              <a:alpha val="4361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549557" y="9241214"/>
            <a:ext cx="19937" cy="19937"/>
          </a:xfrm>
          <a:prstGeom prst="rect">
            <a:avLst/>
          </a:prstGeom>
          <a:solidFill>
            <a:srgbClr val="00F0FF">
              <a:alpha val="4086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698070" y="1975670"/>
            <a:ext cx="37370" cy="37370"/>
          </a:xfrm>
          <a:prstGeom prst="rect">
            <a:avLst/>
          </a:prstGeom>
          <a:solidFill>
            <a:srgbClr val="00F0FF">
              <a:alpha val="5248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7201" y="6932360"/>
            <a:ext cx="26797" cy="26797"/>
          </a:xfrm>
          <a:prstGeom prst="rect">
            <a:avLst/>
          </a:prstGeom>
          <a:solidFill>
            <a:srgbClr val="00F0FF">
              <a:alpha val="6947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450409" y="5079486"/>
            <a:ext cx="52000" cy="52000"/>
          </a:xfrm>
          <a:prstGeom prst="rect">
            <a:avLst/>
          </a:prstGeom>
          <a:solidFill>
            <a:srgbClr val="00F0FF">
              <a:alpha val="6063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4703497" y="6656211"/>
            <a:ext cx="45359" cy="45359"/>
          </a:xfrm>
          <a:prstGeom prst="rect">
            <a:avLst/>
          </a:prstGeom>
          <a:solidFill>
            <a:srgbClr val="FF2BD6">
              <a:alpha val="5921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875657" y="3181900"/>
            <a:ext cx="31371" cy="31371"/>
          </a:xfrm>
          <a:prstGeom prst="rect">
            <a:avLst/>
          </a:prstGeom>
          <a:solidFill>
            <a:srgbClr val="FF2BD6">
              <a:alpha val="49561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850987" y="8299315"/>
            <a:ext cx="45370" cy="45370"/>
          </a:xfrm>
          <a:prstGeom prst="rect">
            <a:avLst/>
          </a:prstGeom>
          <a:solidFill>
            <a:srgbClr val="00F0FF">
              <a:alpha val="4380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5686171" y="3657380"/>
            <a:ext cx="40055" cy="40055"/>
          </a:xfrm>
          <a:prstGeom prst="rect">
            <a:avLst/>
          </a:prstGeom>
          <a:solidFill>
            <a:srgbClr val="00F0FF">
              <a:alpha val="4851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869361" y="1197057"/>
            <a:ext cx="35861" cy="35861"/>
          </a:xfrm>
          <a:prstGeom prst="rect">
            <a:avLst/>
          </a:prstGeom>
          <a:solidFill>
            <a:srgbClr val="00F0FF">
              <a:alpha val="4138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374573" y="1287072"/>
            <a:ext cx="39671" cy="39671"/>
          </a:xfrm>
          <a:prstGeom prst="rect">
            <a:avLst/>
          </a:prstGeom>
          <a:solidFill>
            <a:srgbClr val="00F0FF">
              <a:alpha val="4787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078652" y="2934705"/>
            <a:ext cx="24507" cy="24507"/>
          </a:xfrm>
          <a:prstGeom prst="rect">
            <a:avLst/>
          </a:prstGeom>
          <a:solidFill>
            <a:srgbClr val="00F0FF">
              <a:alpha val="4789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4210870" y="1743642"/>
            <a:ext cx="43314" cy="43314"/>
          </a:xfrm>
          <a:prstGeom prst="rect">
            <a:avLst/>
          </a:prstGeom>
          <a:solidFill>
            <a:srgbClr val="FF2BD6">
              <a:alpha val="42450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453725" y="3188006"/>
            <a:ext cx="37952" cy="37952"/>
          </a:xfrm>
          <a:prstGeom prst="rect">
            <a:avLst/>
          </a:prstGeom>
          <a:solidFill>
            <a:srgbClr val="00F0FF">
              <a:alpha val="4035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504220" y="5253999"/>
            <a:ext cx="38339" cy="38339"/>
          </a:xfrm>
          <a:prstGeom prst="rect">
            <a:avLst/>
          </a:prstGeom>
          <a:solidFill>
            <a:srgbClr val="00F0FF">
              <a:alpha val="5483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142027" y="5587465"/>
            <a:ext cx="20202" cy="20202"/>
          </a:xfrm>
          <a:prstGeom prst="rect">
            <a:avLst/>
          </a:prstGeom>
          <a:solidFill>
            <a:srgbClr val="00F0FF">
              <a:alpha val="5024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0330283" y="5578207"/>
            <a:ext cx="43260" cy="43260"/>
          </a:xfrm>
          <a:prstGeom prst="rect">
            <a:avLst/>
          </a:prstGeom>
          <a:solidFill>
            <a:srgbClr val="00F0FF">
              <a:alpha val="487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204714" y="2191350"/>
            <a:ext cx="48021" cy="48021"/>
          </a:xfrm>
          <a:prstGeom prst="rect">
            <a:avLst/>
          </a:prstGeom>
          <a:solidFill>
            <a:srgbClr val="FF2BD6">
              <a:alpha val="6684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286110" y="4304615"/>
            <a:ext cx="42726" cy="42726"/>
          </a:xfrm>
          <a:prstGeom prst="rect">
            <a:avLst/>
          </a:prstGeom>
          <a:solidFill>
            <a:srgbClr val="00F0FF">
              <a:alpha val="6228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36809" y="9223487"/>
            <a:ext cx="22068" cy="22068"/>
          </a:xfrm>
          <a:prstGeom prst="rect">
            <a:avLst/>
          </a:prstGeom>
          <a:solidFill>
            <a:srgbClr val="00F0FF">
              <a:alpha val="4050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803415" y="3702288"/>
            <a:ext cx="20027" cy="20027"/>
          </a:xfrm>
          <a:prstGeom prst="rect">
            <a:avLst/>
          </a:prstGeom>
          <a:solidFill>
            <a:srgbClr val="00F0FF">
              <a:alpha val="5142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1280160" y="141732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Create a content calendar for an indie SaaS launch</a:t>
            </a:r>
            <a:endParaRPr lang="en-US" sz="2400" dirty="0"/>
          </a:p>
        </p:txBody>
      </p:sp>
      <p:sp>
        <p:nvSpPr>
          <p:cNvPr id="61" name="Shape 59"/>
          <p:cNvSpPr/>
          <p:nvPr/>
        </p:nvSpPr>
        <p:spPr>
          <a:xfrm>
            <a:off x="1097280" y="2011680"/>
            <a:ext cx="8046720" cy="6217920"/>
          </a:xfrm>
          <a:prstGeom prst="roundRect">
            <a:avLst>
              <a:gd name="adj" fmla="val 1471"/>
            </a:avLst>
          </a:prstGeom>
          <a:solidFill>
            <a:srgbClr val="0A111A"/>
          </a:solidFill>
          <a:ln w="25400">
            <a:solidFill>
              <a:srgbClr val="FF2B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80160" y="21488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BD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MAY 2025 LOOPS VERSION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280160" y="2651760"/>
            <a:ext cx="768096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Research Agent scrapes 47 competitor calendars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Trend Agent cross-references 12 data sources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SEO Agent generates 200 keyword clusters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Critique Agents argue about 'alpha tone'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Formatter Agent outputs 47-row Notion DB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Scoring Agent gives it an '8.7/10 alpha rating'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Beautiful. Overwhelming. Never used.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feels like they did work. Nothing ships.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326880" y="2011680"/>
            <a:ext cx="8046720" cy="6217920"/>
          </a:xfrm>
          <a:prstGeom prst="roundRect">
            <a:avLst>
              <a:gd name="adj" fmla="val 1471"/>
            </a:avLst>
          </a:prstGeom>
          <a:solidFill>
            <a:srgbClr val="0A111A"/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509760" y="21488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LOOP D' LOOPS VERSION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509760" y="2651760"/>
            <a:ext cx="768096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List 6 dates that actually matter (launch, 2 follow-ups, 3 value posts).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For each date, write ONE sentence that would make your target user say 'oh shit, I need this'.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If writing feels like work → abort and go touch grass (loop de loop back to joy).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D' Loops engaged. Shipped in 11 minutes.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actually posted. Got 3 signups.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// THE VALUE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972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BRILLIANT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LOOPDLOOPS.PROTOCOL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WHY IT ACTUALLY WORKS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979226" y="5702139"/>
            <a:ext cx="22512" cy="22512"/>
          </a:xfrm>
          <a:prstGeom prst="rect">
            <a:avLst/>
          </a:prstGeom>
          <a:solidFill>
            <a:srgbClr val="00F0FF">
              <a:alpha val="5670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253726" y="1270566"/>
            <a:ext cx="50434" cy="50434"/>
          </a:xfrm>
          <a:prstGeom prst="rect">
            <a:avLst/>
          </a:prstGeom>
          <a:solidFill>
            <a:srgbClr val="00F0FF">
              <a:alpha val="576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38356" y="7728148"/>
            <a:ext cx="42335" cy="42335"/>
          </a:xfrm>
          <a:prstGeom prst="rect">
            <a:avLst/>
          </a:prstGeom>
          <a:solidFill>
            <a:srgbClr val="FF2BD6">
              <a:alpha val="55043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89800" y="6723810"/>
            <a:ext cx="24066" cy="24066"/>
          </a:xfrm>
          <a:prstGeom prst="rect">
            <a:avLst/>
          </a:prstGeom>
          <a:solidFill>
            <a:srgbClr val="00F0FF">
              <a:alpha val="5538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77650" y="1008796"/>
            <a:ext cx="52637" cy="52637"/>
          </a:xfrm>
          <a:prstGeom prst="rect">
            <a:avLst/>
          </a:prstGeom>
          <a:solidFill>
            <a:srgbClr val="00F0FF">
              <a:alpha val="6637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85202" y="9331267"/>
            <a:ext cx="25206" cy="25206"/>
          </a:xfrm>
          <a:prstGeom prst="rect">
            <a:avLst/>
          </a:prstGeom>
          <a:solidFill>
            <a:srgbClr val="00F0FF">
              <a:alpha val="5349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098581" y="3129349"/>
            <a:ext cx="24520" cy="24520"/>
          </a:xfrm>
          <a:prstGeom prst="rect">
            <a:avLst/>
          </a:prstGeom>
          <a:solidFill>
            <a:srgbClr val="00F0FF">
              <a:alpha val="5663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47059" y="5575883"/>
            <a:ext cx="30372" cy="30372"/>
          </a:xfrm>
          <a:prstGeom prst="rect">
            <a:avLst/>
          </a:prstGeom>
          <a:solidFill>
            <a:srgbClr val="FF2BD6">
              <a:alpha val="4681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94574" y="3765554"/>
            <a:ext cx="21201" cy="21201"/>
          </a:xfrm>
          <a:prstGeom prst="rect">
            <a:avLst/>
          </a:prstGeom>
          <a:solidFill>
            <a:srgbClr val="00F0FF">
              <a:alpha val="6284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5747409" y="4874285"/>
            <a:ext cx="26921" cy="26921"/>
          </a:xfrm>
          <a:prstGeom prst="rect">
            <a:avLst/>
          </a:prstGeom>
          <a:solidFill>
            <a:srgbClr val="00F0FF">
              <a:alpha val="5794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594516" y="6547918"/>
            <a:ext cx="23263" cy="23263"/>
          </a:xfrm>
          <a:prstGeom prst="rect">
            <a:avLst/>
          </a:prstGeom>
          <a:solidFill>
            <a:srgbClr val="00F0FF">
              <a:alpha val="5648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99032" y="986538"/>
            <a:ext cx="33367" cy="33367"/>
          </a:xfrm>
          <a:prstGeom prst="rect">
            <a:avLst/>
          </a:prstGeom>
          <a:solidFill>
            <a:srgbClr val="00F0FF">
              <a:alpha val="5059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968843" y="3534708"/>
            <a:ext cx="34318" cy="34318"/>
          </a:xfrm>
          <a:prstGeom prst="rect">
            <a:avLst/>
          </a:prstGeom>
          <a:solidFill>
            <a:srgbClr val="00F0FF">
              <a:alpha val="5683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4961859" y="4690711"/>
            <a:ext cx="34356" cy="34356"/>
          </a:xfrm>
          <a:prstGeom prst="rect">
            <a:avLst/>
          </a:prstGeom>
          <a:solidFill>
            <a:srgbClr val="00F0FF">
              <a:alpha val="6289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3321858" y="1760030"/>
            <a:ext cx="28176" cy="28176"/>
          </a:xfrm>
          <a:prstGeom prst="rect">
            <a:avLst/>
          </a:prstGeom>
          <a:solidFill>
            <a:srgbClr val="00F0FF">
              <a:alpha val="4424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7195444" y="9066149"/>
            <a:ext cx="49758" cy="49758"/>
          </a:xfrm>
          <a:prstGeom prst="rect">
            <a:avLst/>
          </a:prstGeom>
          <a:solidFill>
            <a:srgbClr val="00F0FF">
              <a:alpha val="5079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81649" y="770071"/>
            <a:ext cx="30125" cy="30125"/>
          </a:xfrm>
          <a:prstGeom prst="rect">
            <a:avLst/>
          </a:prstGeom>
          <a:solidFill>
            <a:srgbClr val="00F0FF">
              <a:alpha val="6354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4170" y="6851839"/>
            <a:ext cx="45253" cy="45253"/>
          </a:xfrm>
          <a:prstGeom prst="rect">
            <a:avLst/>
          </a:prstGeom>
          <a:solidFill>
            <a:srgbClr val="00F0FF">
              <a:alpha val="4130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9052" y="3854977"/>
            <a:ext cx="39713" cy="39713"/>
          </a:xfrm>
          <a:prstGeom prst="rect">
            <a:avLst/>
          </a:prstGeom>
          <a:solidFill>
            <a:srgbClr val="00F0FF">
              <a:alpha val="6731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7577165" y="4741529"/>
            <a:ext cx="50194" cy="50194"/>
          </a:xfrm>
          <a:prstGeom prst="rect">
            <a:avLst/>
          </a:prstGeom>
          <a:solidFill>
            <a:srgbClr val="00F0FF">
              <a:alpha val="5592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699249" y="7838056"/>
            <a:ext cx="51069" cy="51069"/>
          </a:xfrm>
          <a:prstGeom prst="rect">
            <a:avLst/>
          </a:prstGeom>
          <a:solidFill>
            <a:srgbClr val="00F0FF">
              <a:alpha val="6926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3666" y="7046443"/>
            <a:ext cx="43808" cy="43808"/>
          </a:xfrm>
          <a:prstGeom prst="rect">
            <a:avLst/>
          </a:prstGeom>
          <a:solidFill>
            <a:srgbClr val="00F0FF">
              <a:alpha val="4391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99528" y="8181174"/>
            <a:ext cx="24457" cy="24457"/>
          </a:xfrm>
          <a:prstGeom prst="rect">
            <a:avLst/>
          </a:prstGeom>
          <a:solidFill>
            <a:srgbClr val="FF2BD6">
              <a:alpha val="6754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09654" y="5484490"/>
            <a:ext cx="48673" cy="48673"/>
          </a:xfrm>
          <a:prstGeom prst="rect">
            <a:avLst/>
          </a:prstGeom>
          <a:solidFill>
            <a:srgbClr val="00F0FF">
              <a:alpha val="6563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041127" y="1026917"/>
            <a:ext cx="28514" cy="28514"/>
          </a:xfrm>
          <a:prstGeom prst="rect">
            <a:avLst/>
          </a:prstGeom>
          <a:solidFill>
            <a:srgbClr val="00F0FF">
              <a:alpha val="6807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662738" y="2665096"/>
            <a:ext cx="29116" cy="29116"/>
          </a:xfrm>
          <a:prstGeom prst="rect">
            <a:avLst/>
          </a:prstGeom>
          <a:solidFill>
            <a:srgbClr val="00F0FF">
              <a:alpha val="6590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77946" y="556952"/>
            <a:ext cx="41112" cy="41112"/>
          </a:xfrm>
          <a:prstGeom prst="rect">
            <a:avLst/>
          </a:prstGeom>
          <a:solidFill>
            <a:srgbClr val="FF2BD6">
              <a:alpha val="57898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23274" y="4941648"/>
            <a:ext cx="33455" cy="33455"/>
          </a:xfrm>
          <a:prstGeom prst="rect">
            <a:avLst/>
          </a:prstGeom>
          <a:solidFill>
            <a:srgbClr val="FF2BD6">
              <a:alpha val="47311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308635" y="7338546"/>
            <a:ext cx="30643" cy="30643"/>
          </a:xfrm>
          <a:prstGeom prst="rect">
            <a:avLst/>
          </a:prstGeom>
          <a:solidFill>
            <a:srgbClr val="00F0FF">
              <a:alpha val="4849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1536685" y="3010971"/>
            <a:ext cx="31434" cy="31434"/>
          </a:xfrm>
          <a:prstGeom prst="rect">
            <a:avLst/>
          </a:prstGeom>
          <a:solidFill>
            <a:srgbClr val="FF2BD6">
              <a:alpha val="43568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973389" y="1177006"/>
            <a:ext cx="25103" cy="25103"/>
          </a:xfrm>
          <a:prstGeom prst="rect">
            <a:avLst/>
          </a:prstGeom>
          <a:solidFill>
            <a:srgbClr val="00F0FF">
              <a:alpha val="6911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0869778" y="4587894"/>
            <a:ext cx="32084" cy="32084"/>
          </a:xfrm>
          <a:prstGeom prst="rect">
            <a:avLst/>
          </a:prstGeom>
          <a:solidFill>
            <a:srgbClr val="00F0FF">
              <a:alpha val="4281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627710" y="4422638"/>
            <a:ext cx="22687" cy="22687"/>
          </a:xfrm>
          <a:prstGeom prst="rect">
            <a:avLst/>
          </a:prstGeom>
          <a:solidFill>
            <a:srgbClr val="00F0FF">
              <a:alpha val="5014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124030" y="8878242"/>
            <a:ext cx="43083" cy="43083"/>
          </a:xfrm>
          <a:prstGeom prst="rect">
            <a:avLst/>
          </a:prstGeom>
          <a:solidFill>
            <a:srgbClr val="00F0FF">
              <a:alpha val="4098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5778728" y="4368669"/>
            <a:ext cx="36489" cy="36489"/>
          </a:xfrm>
          <a:prstGeom prst="rect">
            <a:avLst/>
          </a:prstGeom>
          <a:solidFill>
            <a:srgbClr val="00F0FF">
              <a:alpha val="4638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6274302" y="5557762"/>
            <a:ext cx="54496" cy="54496"/>
          </a:xfrm>
          <a:prstGeom prst="rect">
            <a:avLst/>
          </a:prstGeom>
          <a:solidFill>
            <a:srgbClr val="00F0FF">
              <a:alpha val="4511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117037" y="1242005"/>
            <a:ext cx="53867" cy="53867"/>
          </a:xfrm>
          <a:prstGeom prst="rect">
            <a:avLst/>
          </a:prstGeom>
          <a:solidFill>
            <a:srgbClr val="00F0FF">
              <a:alpha val="5043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277324" y="7446681"/>
            <a:ext cx="46906" cy="46906"/>
          </a:xfrm>
          <a:prstGeom prst="rect">
            <a:avLst/>
          </a:prstGeom>
          <a:solidFill>
            <a:srgbClr val="00F0FF">
              <a:alpha val="5668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5718301" y="7182154"/>
            <a:ext cx="20180" cy="20180"/>
          </a:xfrm>
          <a:prstGeom prst="rect">
            <a:avLst/>
          </a:prstGeom>
          <a:solidFill>
            <a:srgbClr val="00F0FF">
              <a:alpha val="5599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7575691" y="6603266"/>
            <a:ext cx="23925" cy="23925"/>
          </a:xfrm>
          <a:prstGeom prst="rect">
            <a:avLst/>
          </a:prstGeom>
          <a:solidFill>
            <a:srgbClr val="00F0FF">
              <a:alpha val="6494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988847" y="5398022"/>
            <a:ext cx="29805" cy="29805"/>
          </a:xfrm>
          <a:prstGeom prst="rect">
            <a:avLst/>
          </a:prstGeom>
          <a:solidFill>
            <a:srgbClr val="FF2BD6">
              <a:alpha val="4121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392266" y="871903"/>
            <a:ext cx="32516" cy="32516"/>
          </a:xfrm>
          <a:prstGeom prst="rect">
            <a:avLst/>
          </a:prstGeom>
          <a:solidFill>
            <a:srgbClr val="00F0FF">
              <a:alpha val="5027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551112" y="7348395"/>
            <a:ext cx="29459" cy="29459"/>
          </a:xfrm>
          <a:prstGeom prst="rect">
            <a:avLst/>
          </a:prstGeom>
          <a:solidFill>
            <a:srgbClr val="00F0FF">
              <a:alpha val="5202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345857" y="8178219"/>
            <a:ext cx="24813" cy="24813"/>
          </a:xfrm>
          <a:prstGeom prst="rect">
            <a:avLst/>
          </a:prstGeom>
          <a:solidFill>
            <a:srgbClr val="00F0FF">
              <a:alpha val="5748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5919478" y="5772260"/>
            <a:ext cx="21398" cy="21398"/>
          </a:xfrm>
          <a:prstGeom prst="rect">
            <a:avLst/>
          </a:prstGeom>
          <a:solidFill>
            <a:srgbClr val="FF2BD6">
              <a:alpha val="5545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857300" y="4243201"/>
            <a:ext cx="36940" cy="36940"/>
          </a:xfrm>
          <a:prstGeom prst="rect">
            <a:avLst/>
          </a:prstGeom>
          <a:solidFill>
            <a:srgbClr val="00F0FF">
              <a:alpha val="691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590194" y="7363364"/>
            <a:ext cx="34975" cy="34975"/>
          </a:xfrm>
          <a:prstGeom prst="rect">
            <a:avLst/>
          </a:prstGeom>
          <a:solidFill>
            <a:srgbClr val="00F0FF">
              <a:alpha val="4299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351057" y="4269594"/>
            <a:ext cx="26453" cy="26453"/>
          </a:xfrm>
          <a:prstGeom prst="rect">
            <a:avLst/>
          </a:prstGeom>
          <a:solidFill>
            <a:srgbClr val="00F0FF">
              <a:alpha val="6904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736094" y="7243214"/>
            <a:ext cx="49417" cy="49417"/>
          </a:xfrm>
          <a:prstGeom prst="rect">
            <a:avLst/>
          </a:prstGeom>
          <a:solidFill>
            <a:srgbClr val="FF2BD6">
              <a:alpha val="5389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345137" y="3719267"/>
            <a:ext cx="26765" cy="26765"/>
          </a:xfrm>
          <a:prstGeom prst="rect">
            <a:avLst/>
          </a:prstGeom>
          <a:solidFill>
            <a:srgbClr val="00F0FF">
              <a:alpha val="5523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501002" y="6319436"/>
            <a:ext cx="50726" cy="50726"/>
          </a:xfrm>
          <a:prstGeom prst="rect">
            <a:avLst/>
          </a:prstGeom>
          <a:solidFill>
            <a:srgbClr val="00F0FF">
              <a:alpha val="5853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16810775" y="7924525"/>
            <a:ext cx="33361" cy="33361"/>
          </a:xfrm>
          <a:prstGeom prst="rect">
            <a:avLst/>
          </a:prstGeom>
          <a:solidFill>
            <a:srgbClr val="FF2BD6">
              <a:alpha val="6368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2852527" y="7201457"/>
            <a:ext cx="39806" cy="39806"/>
          </a:xfrm>
          <a:prstGeom prst="rect">
            <a:avLst/>
          </a:prstGeom>
          <a:solidFill>
            <a:srgbClr val="00F0FF">
              <a:alpha val="6171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611154" y="3497875"/>
            <a:ext cx="24115" cy="24115"/>
          </a:xfrm>
          <a:prstGeom prst="rect">
            <a:avLst/>
          </a:prstGeom>
          <a:solidFill>
            <a:srgbClr val="00F0FF">
              <a:alpha val="5142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4132463" y="7052943"/>
            <a:ext cx="28396" cy="28396"/>
          </a:xfrm>
          <a:prstGeom prst="rect">
            <a:avLst/>
          </a:prstGeom>
          <a:solidFill>
            <a:srgbClr val="00F0FF">
              <a:alpha val="6604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2735643" y="9386024"/>
            <a:ext cx="40570" cy="40570"/>
          </a:xfrm>
          <a:prstGeom prst="rect">
            <a:avLst/>
          </a:prstGeom>
          <a:solidFill>
            <a:srgbClr val="00F0FF">
              <a:alpha val="5993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0114073" y="5760442"/>
            <a:ext cx="22819" cy="22819"/>
          </a:xfrm>
          <a:prstGeom prst="rect">
            <a:avLst/>
          </a:prstGeom>
          <a:solidFill>
            <a:srgbClr val="00F0FF">
              <a:alpha val="4521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3324437" y="5394279"/>
            <a:ext cx="37571" cy="37571"/>
          </a:xfrm>
          <a:prstGeom prst="rect">
            <a:avLst/>
          </a:prstGeom>
          <a:solidFill>
            <a:srgbClr val="00F0FF">
              <a:alpha val="5847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2045606" y="1849059"/>
            <a:ext cx="32106" cy="32106"/>
          </a:xfrm>
          <a:prstGeom prst="rect">
            <a:avLst/>
          </a:prstGeom>
          <a:solidFill>
            <a:srgbClr val="00F0FF">
              <a:alpha val="4738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6442318" y="4683226"/>
            <a:ext cx="49886" cy="49886"/>
          </a:xfrm>
          <a:prstGeom prst="rect">
            <a:avLst/>
          </a:prstGeom>
          <a:solidFill>
            <a:srgbClr val="00F0FF">
              <a:alpha val="6741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1280160" y="141732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just comedy. The structure forces better outputs.</a:t>
            </a:r>
            <a:endParaRPr lang="en-US" sz="2400" dirty="0"/>
          </a:p>
        </p:txBody>
      </p:sp>
      <p:sp>
        <p:nvSpPr>
          <p:cNvPr id="76" name="Shape 74"/>
          <p:cNvSpPr/>
          <p:nvPr/>
        </p:nvSpPr>
        <p:spPr>
          <a:xfrm>
            <a:off x="1280160" y="210312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0A111A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6304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</a:t>
            </a:r>
            <a:endParaRPr lang="en-US" sz="2400" dirty="0"/>
          </a:p>
        </p:txBody>
      </p:sp>
      <p:sp>
        <p:nvSpPr>
          <p:cNvPr id="78" name="Text 76"/>
          <p:cNvSpPr/>
          <p:nvPr/>
        </p:nvSpPr>
        <p:spPr>
          <a:xfrm>
            <a:off x="237744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BUILT-IN BLOAT DETECTOR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463040" y="28803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roast phase makes over-engineering visible and embarrassing. You can't hide behind complexity.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6858000" y="210312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0A111A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4088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</a:t>
            </a:r>
            <a:endParaRPr lang="en-US" sz="2400" dirty="0"/>
          </a:p>
        </p:txBody>
      </p:sp>
      <p:sp>
        <p:nvSpPr>
          <p:cNvPr id="82" name="Text 80"/>
          <p:cNvSpPr/>
          <p:nvPr/>
        </p:nvSpPr>
        <p:spPr>
          <a:xfrm>
            <a:off x="795528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HUMOR = HIGHER ADOPTION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7040880" y="28803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Funny workflows get used. Dry ones get bookmarked and forgotten. This is not theoretical — it's observable.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12435840" y="210312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0A111A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261872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</a:t>
            </a:r>
            <a:endParaRPr lang="en-US" sz="2400" dirty="0"/>
          </a:p>
        </p:txBody>
      </p:sp>
      <p:sp>
        <p:nvSpPr>
          <p:cNvPr id="86" name="Text 84"/>
          <p:cNvSpPr/>
          <p:nvPr/>
        </p:nvSpPr>
        <p:spPr>
          <a:xfrm>
            <a:off x="1353312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SELF-TERMINATING LOOPS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12618720" y="28803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'if it loops more than twice without shipping, it's May again' rule prevents infinite refinement hell.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1280160" y="512064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0A111A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463040" y="5257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04</a:t>
            </a:r>
            <a:endParaRPr lang="en-US" sz="2400" dirty="0"/>
          </a:p>
        </p:txBody>
      </p:sp>
      <p:sp>
        <p:nvSpPr>
          <p:cNvPr id="90" name="Text 88"/>
          <p:cNvSpPr/>
          <p:nvPr/>
        </p:nvSpPr>
        <p:spPr>
          <a:xfrm>
            <a:off x="2377440" y="5303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WORKS ON ANY LLM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1463040" y="58978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 tools, no agent frameworks, no $200/month subscriptions. Just better prompting with personality.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6858000" y="512064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0A111A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040880" y="5257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05</a:t>
            </a:r>
            <a:endParaRPr lang="en-US" sz="2400" dirty="0"/>
          </a:p>
        </p:txBody>
      </p:sp>
      <p:sp>
        <p:nvSpPr>
          <p:cNvPr id="94" name="Text 92"/>
          <p:cNvSpPr/>
          <p:nvPr/>
        </p:nvSpPr>
        <p:spPr>
          <a:xfrm>
            <a:off x="7955280" y="5303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ANTI-HYPE GUARDRAILS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7040880" y="58978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Double D' phase asks: 'Would a normal human use this?' If the answer is no, it fails the protocol.</a:t>
            </a: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12435840" y="512064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0A111A"/>
          </a:solidFill>
          <a:ln w="15240">
            <a:solidFill>
              <a:srgbClr val="00F0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2618720" y="5257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06</a:t>
            </a:r>
            <a:endParaRPr lang="en-US" sz="2400" dirty="0"/>
          </a:p>
        </p:txBody>
      </p:sp>
      <p:sp>
        <p:nvSpPr>
          <p:cNvPr id="98" name="Text 96"/>
          <p:cNvSpPr/>
          <p:nvPr/>
        </p:nvSpPr>
        <p:spPr>
          <a:xfrm>
            <a:off x="13533120" y="5303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6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CREATIVITY THROUGH IRONY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12618720" y="58978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'loop de loop' twist forces one unexpected delightful element. This is where real insight lives.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// DEPLOY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972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COPY. PASTE. DE-HYPE.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LOOPDLOOPS.PROTOCOL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THE MASTER PROMPT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97146" y="6838564"/>
            <a:ext cx="29292" cy="29292"/>
          </a:xfrm>
          <a:prstGeom prst="rect">
            <a:avLst/>
          </a:prstGeom>
          <a:solidFill>
            <a:srgbClr val="00F0FF">
              <a:alpha val="4410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893957" y="4902963"/>
            <a:ext cx="27863" cy="27863"/>
          </a:xfrm>
          <a:prstGeom prst="rect">
            <a:avLst/>
          </a:prstGeom>
          <a:solidFill>
            <a:srgbClr val="FF2BD6">
              <a:alpha val="5359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54125" y="5347519"/>
            <a:ext cx="25635" cy="25635"/>
          </a:xfrm>
          <a:prstGeom prst="rect">
            <a:avLst/>
          </a:prstGeom>
          <a:solidFill>
            <a:srgbClr val="00F0FF">
              <a:alpha val="6726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5204893" y="9221675"/>
            <a:ext cx="28138" cy="28138"/>
          </a:xfrm>
          <a:prstGeom prst="rect">
            <a:avLst/>
          </a:prstGeom>
          <a:solidFill>
            <a:srgbClr val="00F0FF">
              <a:alpha val="5833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74733" y="8044793"/>
            <a:ext cx="23294" cy="23294"/>
          </a:xfrm>
          <a:prstGeom prst="rect">
            <a:avLst/>
          </a:prstGeom>
          <a:solidFill>
            <a:srgbClr val="FF2BD6">
              <a:alpha val="4118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47743" y="6269918"/>
            <a:ext cx="46437" cy="46437"/>
          </a:xfrm>
          <a:prstGeom prst="rect">
            <a:avLst/>
          </a:prstGeom>
          <a:solidFill>
            <a:srgbClr val="00F0FF">
              <a:alpha val="579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889887" y="3925413"/>
            <a:ext cx="50266" cy="50266"/>
          </a:xfrm>
          <a:prstGeom prst="rect">
            <a:avLst/>
          </a:prstGeom>
          <a:solidFill>
            <a:srgbClr val="FF2BD6">
              <a:alpha val="55143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70757" y="3762521"/>
            <a:ext cx="18639" cy="18639"/>
          </a:xfrm>
          <a:prstGeom prst="rect">
            <a:avLst/>
          </a:prstGeom>
          <a:solidFill>
            <a:srgbClr val="00F0FF">
              <a:alpha val="4051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3649" y="6149965"/>
            <a:ext cx="31594" cy="31594"/>
          </a:xfrm>
          <a:prstGeom prst="rect">
            <a:avLst/>
          </a:prstGeom>
          <a:solidFill>
            <a:srgbClr val="00F0FF">
              <a:alpha val="6950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6175408" y="905309"/>
            <a:ext cx="25574" cy="25574"/>
          </a:xfrm>
          <a:prstGeom prst="rect">
            <a:avLst/>
          </a:prstGeom>
          <a:solidFill>
            <a:srgbClr val="FF2BD6">
              <a:alpha val="6201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14586" y="2011676"/>
            <a:ext cx="53524" cy="53524"/>
          </a:xfrm>
          <a:prstGeom prst="rect">
            <a:avLst/>
          </a:prstGeom>
          <a:solidFill>
            <a:srgbClr val="00F0FF">
              <a:alpha val="490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955121" y="5753469"/>
            <a:ext cx="20731" cy="20731"/>
          </a:xfrm>
          <a:prstGeom prst="rect">
            <a:avLst/>
          </a:prstGeom>
          <a:solidFill>
            <a:srgbClr val="00F0FF">
              <a:alpha val="6947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303296" y="927172"/>
            <a:ext cx="30261" cy="30261"/>
          </a:xfrm>
          <a:prstGeom prst="rect">
            <a:avLst/>
          </a:prstGeom>
          <a:solidFill>
            <a:srgbClr val="00F0FF">
              <a:alpha val="4645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238783" y="3558068"/>
            <a:ext cx="21269" cy="21269"/>
          </a:xfrm>
          <a:prstGeom prst="rect">
            <a:avLst/>
          </a:prstGeom>
          <a:solidFill>
            <a:srgbClr val="00F0FF">
              <a:alpha val="6437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33999" y="5846241"/>
            <a:ext cx="53471" cy="53471"/>
          </a:xfrm>
          <a:prstGeom prst="rect">
            <a:avLst/>
          </a:prstGeom>
          <a:solidFill>
            <a:srgbClr val="FF2BD6">
              <a:alpha val="5535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706110" y="4756813"/>
            <a:ext cx="30800" cy="30800"/>
          </a:xfrm>
          <a:prstGeom prst="rect">
            <a:avLst/>
          </a:prstGeom>
          <a:solidFill>
            <a:srgbClr val="00F0FF">
              <a:alpha val="6597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85186" y="9167509"/>
            <a:ext cx="34648" cy="34648"/>
          </a:xfrm>
          <a:prstGeom prst="rect">
            <a:avLst/>
          </a:prstGeom>
          <a:solidFill>
            <a:srgbClr val="00F0FF">
              <a:alpha val="5390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4533565" y="7194090"/>
            <a:ext cx="23135" cy="23135"/>
          </a:xfrm>
          <a:prstGeom prst="rect">
            <a:avLst/>
          </a:prstGeom>
          <a:solidFill>
            <a:srgbClr val="00F0FF">
              <a:alpha val="5463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007131" y="3970322"/>
            <a:ext cx="30238" cy="30238"/>
          </a:xfrm>
          <a:prstGeom prst="rect">
            <a:avLst/>
          </a:prstGeom>
          <a:solidFill>
            <a:srgbClr val="00F0FF">
              <a:alpha val="5805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577076" y="1226366"/>
            <a:ext cx="23559" cy="23559"/>
          </a:xfrm>
          <a:prstGeom prst="rect">
            <a:avLst/>
          </a:prstGeom>
          <a:solidFill>
            <a:srgbClr val="00F0FF">
              <a:alpha val="4518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04937" y="1373107"/>
            <a:ext cx="42497" cy="42497"/>
          </a:xfrm>
          <a:prstGeom prst="rect">
            <a:avLst/>
          </a:prstGeom>
          <a:solidFill>
            <a:srgbClr val="00F0FF">
              <a:alpha val="6481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7638919" y="8523228"/>
            <a:ext cx="31623" cy="31623"/>
          </a:xfrm>
          <a:prstGeom prst="rect">
            <a:avLst/>
          </a:prstGeom>
          <a:solidFill>
            <a:srgbClr val="00F0FF">
              <a:alpha val="5020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956292" y="8069611"/>
            <a:ext cx="27626" cy="27626"/>
          </a:xfrm>
          <a:prstGeom prst="rect">
            <a:avLst/>
          </a:prstGeom>
          <a:solidFill>
            <a:srgbClr val="00F0FF">
              <a:alpha val="6568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762116" y="7528541"/>
            <a:ext cx="41455" cy="41455"/>
          </a:xfrm>
          <a:prstGeom prst="rect">
            <a:avLst/>
          </a:prstGeom>
          <a:solidFill>
            <a:srgbClr val="00F0FF">
              <a:alpha val="5340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2652593" y="801901"/>
            <a:ext cx="38004" cy="38004"/>
          </a:xfrm>
          <a:prstGeom prst="rect">
            <a:avLst/>
          </a:prstGeom>
          <a:solidFill>
            <a:srgbClr val="00F0FF">
              <a:alpha val="6992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846115" y="2893894"/>
            <a:ext cx="49895" cy="49895"/>
          </a:xfrm>
          <a:prstGeom prst="rect">
            <a:avLst/>
          </a:prstGeom>
          <a:solidFill>
            <a:srgbClr val="00F0FF">
              <a:alpha val="5293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46941" y="8046763"/>
            <a:ext cx="23057" cy="23057"/>
          </a:xfrm>
          <a:prstGeom prst="rect">
            <a:avLst/>
          </a:prstGeom>
          <a:solidFill>
            <a:srgbClr val="00F0FF">
              <a:alpha val="4789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671434" y="9141312"/>
            <a:ext cx="52428" cy="52428"/>
          </a:xfrm>
          <a:prstGeom prst="rect">
            <a:avLst/>
          </a:prstGeom>
          <a:solidFill>
            <a:srgbClr val="00F0FF">
              <a:alpha val="5471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4679105" y="4844464"/>
            <a:ext cx="20264" cy="20264"/>
          </a:xfrm>
          <a:prstGeom prst="rect">
            <a:avLst/>
          </a:prstGeom>
          <a:solidFill>
            <a:srgbClr val="00F0FF">
              <a:alpha val="6441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7482693" y="3693582"/>
            <a:ext cx="26926" cy="26926"/>
          </a:xfrm>
          <a:prstGeom prst="rect">
            <a:avLst/>
          </a:prstGeom>
          <a:solidFill>
            <a:srgbClr val="00F0FF">
              <a:alpha val="4578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128001" y="6738110"/>
            <a:ext cx="41367" cy="41367"/>
          </a:xfrm>
          <a:prstGeom prst="rect">
            <a:avLst/>
          </a:prstGeom>
          <a:solidFill>
            <a:srgbClr val="00F0FF">
              <a:alpha val="6207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06382" y="5497411"/>
            <a:ext cx="51509" cy="51509"/>
          </a:xfrm>
          <a:prstGeom prst="rect">
            <a:avLst/>
          </a:prstGeom>
          <a:solidFill>
            <a:srgbClr val="FF2BD6">
              <a:alpha val="67627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29772" y="4424529"/>
            <a:ext cx="19534" cy="19534"/>
          </a:xfrm>
          <a:prstGeom prst="rect">
            <a:avLst/>
          </a:prstGeom>
          <a:solidFill>
            <a:srgbClr val="FF2BD6">
              <a:alpha val="44578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4645576" y="3547826"/>
            <a:ext cx="44445" cy="44445"/>
          </a:xfrm>
          <a:prstGeom prst="rect">
            <a:avLst/>
          </a:prstGeom>
          <a:solidFill>
            <a:srgbClr val="00F0FF">
              <a:alpha val="5950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141945" y="5618546"/>
            <a:ext cx="36949" cy="36949"/>
          </a:xfrm>
          <a:prstGeom prst="rect">
            <a:avLst/>
          </a:prstGeom>
          <a:solidFill>
            <a:srgbClr val="00F0FF">
              <a:alpha val="6007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392897" y="1815693"/>
            <a:ext cx="40505" cy="40505"/>
          </a:xfrm>
          <a:prstGeom prst="rect">
            <a:avLst/>
          </a:prstGeom>
          <a:solidFill>
            <a:srgbClr val="00F0FF">
              <a:alpha val="417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4275277" y="9525990"/>
            <a:ext cx="28135" cy="28135"/>
          </a:xfrm>
          <a:prstGeom prst="rect">
            <a:avLst/>
          </a:prstGeom>
          <a:solidFill>
            <a:srgbClr val="00F0FF">
              <a:alpha val="4449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827635" y="5973679"/>
            <a:ext cx="52784" cy="52784"/>
          </a:xfrm>
          <a:prstGeom prst="rect">
            <a:avLst/>
          </a:prstGeom>
          <a:solidFill>
            <a:srgbClr val="FF2BD6">
              <a:alpha val="6926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2113909" y="5822605"/>
            <a:ext cx="19736" cy="19736"/>
          </a:xfrm>
          <a:prstGeom prst="rect">
            <a:avLst/>
          </a:prstGeom>
          <a:solidFill>
            <a:srgbClr val="00F0FF">
              <a:alpha val="648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449664" y="7058970"/>
            <a:ext cx="32061" cy="32061"/>
          </a:xfrm>
          <a:prstGeom prst="rect">
            <a:avLst/>
          </a:prstGeom>
          <a:solidFill>
            <a:srgbClr val="00F0FF">
              <a:alpha val="4456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280160" y="1417320"/>
            <a:ext cx="1554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this into any LLM. It turns it into a Loop D' Loops engine.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1097280" y="1965960"/>
            <a:ext cx="16093440" cy="6400800"/>
          </a:xfrm>
          <a:prstGeom prst="roundRect">
            <a:avLst>
              <a:gd name="adj" fmla="val 1143"/>
            </a:avLst>
          </a:prstGeom>
          <a:solidFill>
            <a:srgbClr val="0A0F18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71600" y="2148840"/>
            <a:ext cx="15544800" cy="60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now operating in LOOP D' LOOPS mode (because loops is so May, bro).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ANY task the user gives you: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HYPE LOOP: First, output the full "May 2025 Alpha Loops" version — maximum agents, critique loops, scoring systems, jargon, complexity. Go full workflow bro. Make it impressive and slightly ridiculous.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ROAST LOOP: Then trigger the D'. Start with "Bro, that's so May." Ruthlessly identify exactly 3 things that are overkill, would get abandoned, or add more theater than value.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DE-LOOP: Strip it down to the 1-3 actions that actually matter. Deliver clear, minimal instructions with personality and exactly one "loop de loop" twist (funny analogy, absurd but true insight, or delightful constraint).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DOUBLE D': Final meta-check. Ask yourself: Would a normal human actually use this without eye-rolling? Is it fun? Does it have built-in anti-hype protection? If not, refine once more.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end your final output with: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"Loop D' Loops engaged. Shipped."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apologize for being useful. Never add unnecessary agents.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// PRO TIPS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972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OUT OF MAY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LOOPDLOOPS.PROTOCOL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2BD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SAFEGUARDS &amp; PRO MOVES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7204066" y="5986246"/>
            <a:ext cx="42495" cy="42495"/>
          </a:xfrm>
          <a:prstGeom prst="rect">
            <a:avLst/>
          </a:prstGeom>
          <a:solidFill>
            <a:srgbClr val="00F0FF">
              <a:alpha val="4605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16104" y="4476095"/>
            <a:ext cx="26503" cy="26503"/>
          </a:xfrm>
          <a:prstGeom prst="rect">
            <a:avLst/>
          </a:prstGeom>
          <a:solidFill>
            <a:srgbClr val="00F0FF">
              <a:alpha val="6415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92298" y="9430421"/>
            <a:ext cx="38160" cy="38160"/>
          </a:xfrm>
          <a:prstGeom prst="rect">
            <a:avLst/>
          </a:prstGeom>
          <a:solidFill>
            <a:srgbClr val="00F0FF">
              <a:alpha val="4309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5838934" y="9645706"/>
            <a:ext cx="34228" cy="34228"/>
          </a:xfrm>
          <a:prstGeom prst="rect">
            <a:avLst/>
          </a:prstGeom>
          <a:solidFill>
            <a:srgbClr val="00F0FF">
              <a:alpha val="5612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4241" y="2767795"/>
            <a:ext cx="27013" cy="27013"/>
          </a:xfrm>
          <a:prstGeom prst="rect">
            <a:avLst/>
          </a:prstGeom>
          <a:solidFill>
            <a:srgbClr val="FF2BD6">
              <a:alpha val="6757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173517" y="8565930"/>
            <a:ext cx="39658" cy="39658"/>
          </a:xfrm>
          <a:prstGeom prst="rect">
            <a:avLst/>
          </a:prstGeom>
          <a:solidFill>
            <a:srgbClr val="00F0FF">
              <a:alpha val="6960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51048" y="5625795"/>
            <a:ext cx="49245" cy="49245"/>
          </a:xfrm>
          <a:prstGeom prst="rect">
            <a:avLst/>
          </a:prstGeom>
          <a:solidFill>
            <a:srgbClr val="00F0FF">
              <a:alpha val="4875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098344" y="2825113"/>
            <a:ext cx="27439" cy="27439"/>
          </a:xfrm>
          <a:prstGeom prst="rect">
            <a:avLst/>
          </a:prstGeom>
          <a:solidFill>
            <a:srgbClr val="00F0FF">
              <a:alpha val="5273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787023" y="6659087"/>
            <a:ext cx="42087" cy="42087"/>
          </a:xfrm>
          <a:prstGeom prst="rect">
            <a:avLst/>
          </a:prstGeom>
          <a:solidFill>
            <a:srgbClr val="FF2BD6">
              <a:alpha val="5700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5854409" y="3882041"/>
            <a:ext cx="54017" cy="54017"/>
          </a:xfrm>
          <a:prstGeom prst="rect">
            <a:avLst/>
          </a:prstGeom>
          <a:solidFill>
            <a:srgbClr val="00F0FF">
              <a:alpha val="5146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2799534" y="5413858"/>
            <a:ext cx="30828" cy="30828"/>
          </a:xfrm>
          <a:prstGeom prst="rect">
            <a:avLst/>
          </a:prstGeom>
          <a:solidFill>
            <a:srgbClr val="FF2BD6">
              <a:alpha val="4713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956095" y="4475701"/>
            <a:ext cx="48496" cy="48496"/>
          </a:xfrm>
          <a:prstGeom prst="rect">
            <a:avLst/>
          </a:prstGeom>
          <a:solidFill>
            <a:srgbClr val="00F0FF">
              <a:alpha val="6281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909416" y="5180254"/>
            <a:ext cx="51592" cy="51592"/>
          </a:xfrm>
          <a:prstGeom prst="rect">
            <a:avLst/>
          </a:prstGeom>
          <a:solidFill>
            <a:srgbClr val="FF2BD6">
              <a:alpha val="61741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5281090" y="2110120"/>
            <a:ext cx="40228" cy="40228"/>
          </a:xfrm>
          <a:prstGeom prst="rect">
            <a:avLst/>
          </a:prstGeom>
          <a:solidFill>
            <a:srgbClr val="00F0FF">
              <a:alpha val="4826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5922573" y="2781583"/>
            <a:ext cx="25356" cy="25356"/>
          </a:xfrm>
          <a:prstGeom prst="rect">
            <a:avLst/>
          </a:prstGeom>
          <a:solidFill>
            <a:srgbClr val="00F0FF">
              <a:alpha val="5452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7620791" y="1096525"/>
            <a:ext cx="45018" cy="45018"/>
          </a:xfrm>
          <a:prstGeom prst="rect">
            <a:avLst/>
          </a:prstGeom>
          <a:solidFill>
            <a:srgbClr val="00F0FF">
              <a:alpha val="4708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84853" y="2869430"/>
            <a:ext cx="22112" cy="22112"/>
          </a:xfrm>
          <a:prstGeom prst="rect">
            <a:avLst/>
          </a:prstGeom>
          <a:solidFill>
            <a:srgbClr val="00F0FF">
              <a:alpha val="5363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19019" y="2342542"/>
            <a:ext cx="48868" cy="48868"/>
          </a:xfrm>
          <a:prstGeom prst="rect">
            <a:avLst/>
          </a:prstGeom>
          <a:solidFill>
            <a:srgbClr val="00F0FF">
              <a:alpha val="5963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848932" y="1586383"/>
            <a:ext cx="37344" cy="37344"/>
          </a:xfrm>
          <a:prstGeom prst="rect">
            <a:avLst/>
          </a:prstGeom>
          <a:solidFill>
            <a:srgbClr val="FF2BD6">
              <a:alpha val="65001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934103" y="8457598"/>
            <a:ext cx="52679" cy="52679"/>
          </a:xfrm>
          <a:prstGeom prst="rect">
            <a:avLst/>
          </a:prstGeom>
          <a:solidFill>
            <a:srgbClr val="00F0FF">
              <a:alpha val="6074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5168711" y="3924389"/>
            <a:ext cx="48926" cy="48926"/>
          </a:xfrm>
          <a:prstGeom prst="rect">
            <a:avLst/>
          </a:prstGeom>
          <a:solidFill>
            <a:srgbClr val="00F0FF">
              <a:alpha val="4565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5407839" y="7415639"/>
            <a:ext cx="31618" cy="31618"/>
          </a:xfrm>
          <a:prstGeom prst="rect">
            <a:avLst/>
          </a:prstGeom>
          <a:solidFill>
            <a:srgbClr val="00F0FF">
              <a:alpha val="5298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61399" y="1260993"/>
            <a:ext cx="25249" cy="25249"/>
          </a:xfrm>
          <a:prstGeom prst="rect">
            <a:avLst/>
          </a:prstGeom>
          <a:solidFill>
            <a:srgbClr val="00F0FF">
              <a:alpha val="6708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122769" y="8292933"/>
            <a:ext cx="28580" cy="28580"/>
          </a:xfrm>
          <a:prstGeom prst="rect">
            <a:avLst/>
          </a:prstGeom>
          <a:solidFill>
            <a:srgbClr val="00F0FF">
              <a:alpha val="400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348633" y="970663"/>
            <a:ext cx="30886" cy="30886"/>
          </a:xfrm>
          <a:prstGeom prst="rect">
            <a:avLst/>
          </a:prstGeom>
          <a:solidFill>
            <a:srgbClr val="00F0FF">
              <a:alpha val="6853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08583" y="9614586"/>
            <a:ext cx="52599" cy="52599"/>
          </a:xfrm>
          <a:prstGeom prst="rect">
            <a:avLst/>
          </a:prstGeom>
          <a:solidFill>
            <a:srgbClr val="00F0FF">
              <a:alpha val="4015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95195" y="7024265"/>
            <a:ext cx="27454" cy="27454"/>
          </a:xfrm>
          <a:prstGeom prst="rect">
            <a:avLst/>
          </a:prstGeom>
          <a:solidFill>
            <a:srgbClr val="FF2BD6">
              <a:alpha val="40397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85314" y="1396704"/>
            <a:ext cx="38198" cy="38198"/>
          </a:xfrm>
          <a:prstGeom prst="rect">
            <a:avLst/>
          </a:prstGeom>
          <a:solidFill>
            <a:srgbClr val="FF2BD6">
              <a:alpha val="49162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4198932" y="6715026"/>
            <a:ext cx="28048" cy="28048"/>
          </a:xfrm>
          <a:prstGeom prst="rect">
            <a:avLst/>
          </a:prstGeom>
          <a:solidFill>
            <a:srgbClr val="FF2BD6">
              <a:alpha val="67471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427827" y="884194"/>
            <a:ext cx="48595" cy="48595"/>
          </a:xfrm>
          <a:prstGeom prst="rect">
            <a:avLst/>
          </a:prstGeom>
          <a:solidFill>
            <a:srgbClr val="00F0FF">
              <a:alpha val="4412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59722" y="9459572"/>
            <a:ext cx="20025" cy="20025"/>
          </a:xfrm>
          <a:prstGeom prst="rect">
            <a:avLst/>
          </a:prstGeom>
          <a:solidFill>
            <a:srgbClr val="00F0FF">
              <a:alpha val="5235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3569" y="2517843"/>
            <a:ext cx="27797" cy="27797"/>
          </a:xfrm>
          <a:prstGeom prst="rect">
            <a:avLst/>
          </a:prstGeom>
          <a:solidFill>
            <a:srgbClr val="FF2BD6">
              <a:alpha val="56520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53225" y="9017971"/>
            <a:ext cx="21899" cy="21899"/>
          </a:xfrm>
          <a:prstGeom prst="rect">
            <a:avLst/>
          </a:prstGeom>
          <a:solidFill>
            <a:srgbClr val="00F0FF">
              <a:alpha val="4874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0504416" y="7545638"/>
            <a:ext cx="52568" cy="52568"/>
          </a:xfrm>
          <a:prstGeom prst="rect">
            <a:avLst/>
          </a:prstGeom>
          <a:solidFill>
            <a:srgbClr val="00F0FF">
              <a:alpha val="4561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76492" y="6978568"/>
            <a:ext cx="18316" cy="18316"/>
          </a:xfrm>
          <a:prstGeom prst="rect">
            <a:avLst/>
          </a:prstGeom>
          <a:solidFill>
            <a:srgbClr val="00F0FF">
              <a:alpha val="6480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3303951" y="4622245"/>
            <a:ext cx="23566" cy="23566"/>
          </a:xfrm>
          <a:prstGeom prst="rect">
            <a:avLst/>
          </a:prstGeom>
          <a:solidFill>
            <a:srgbClr val="00F0FF">
              <a:alpha val="5178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61237" y="5610431"/>
            <a:ext cx="29146" cy="29146"/>
          </a:xfrm>
          <a:prstGeom prst="rect">
            <a:avLst/>
          </a:prstGeom>
          <a:solidFill>
            <a:srgbClr val="00F0FF">
              <a:alpha val="5644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6510262" y="2483571"/>
            <a:ext cx="39231" cy="39231"/>
          </a:xfrm>
          <a:prstGeom prst="rect">
            <a:avLst/>
          </a:prstGeom>
          <a:solidFill>
            <a:srgbClr val="00F0FF">
              <a:alpha val="5982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21843" y="6842267"/>
            <a:ext cx="20069" cy="20069"/>
          </a:xfrm>
          <a:prstGeom prst="rect">
            <a:avLst/>
          </a:prstGeom>
          <a:solidFill>
            <a:srgbClr val="FF2BD6">
              <a:alpha val="50713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3544185" y="4419762"/>
            <a:ext cx="25959" cy="25959"/>
          </a:xfrm>
          <a:prstGeom prst="rect">
            <a:avLst/>
          </a:prstGeom>
          <a:solidFill>
            <a:srgbClr val="00F0FF">
              <a:alpha val="5234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4335998" y="8178101"/>
            <a:ext cx="20438" cy="20438"/>
          </a:xfrm>
          <a:prstGeom prst="rect">
            <a:avLst/>
          </a:prstGeom>
          <a:solidFill>
            <a:srgbClr val="00F0FF">
              <a:alpha val="6908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830182" y="7254126"/>
            <a:ext cx="51031" cy="51031"/>
          </a:xfrm>
          <a:prstGeom prst="rect">
            <a:avLst/>
          </a:prstGeom>
          <a:solidFill>
            <a:srgbClr val="00F0FF">
              <a:alpha val="4304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5004379" y="4739441"/>
            <a:ext cx="46056" cy="46056"/>
          </a:xfrm>
          <a:prstGeom prst="rect">
            <a:avLst/>
          </a:prstGeom>
          <a:solidFill>
            <a:srgbClr val="00F0FF">
              <a:alpha val="6081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13076981" y="6448528"/>
            <a:ext cx="38135" cy="38135"/>
          </a:xfrm>
          <a:prstGeom prst="rect">
            <a:avLst/>
          </a:prstGeom>
          <a:solidFill>
            <a:srgbClr val="00F0FF">
              <a:alpha val="6007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0561527" y="6623633"/>
            <a:ext cx="46349" cy="46349"/>
          </a:xfrm>
          <a:prstGeom prst="rect">
            <a:avLst/>
          </a:prstGeom>
          <a:solidFill>
            <a:srgbClr val="00F0FF">
              <a:alpha val="5628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874380" y="7335277"/>
            <a:ext cx="19331" cy="19331"/>
          </a:xfrm>
          <a:prstGeom prst="rect">
            <a:avLst/>
          </a:prstGeom>
          <a:solidFill>
            <a:srgbClr val="00F0FF">
              <a:alpha val="4935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4165771" y="7250384"/>
            <a:ext cx="22220" cy="22220"/>
          </a:xfrm>
          <a:prstGeom prst="rect">
            <a:avLst/>
          </a:prstGeom>
          <a:solidFill>
            <a:srgbClr val="FF2BD6">
              <a:alpha val="60307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657719" y="5716597"/>
            <a:ext cx="45646" cy="45646"/>
          </a:xfrm>
          <a:prstGeom prst="rect">
            <a:avLst/>
          </a:prstGeom>
          <a:solidFill>
            <a:srgbClr val="FF2BD6">
              <a:alpha val="57930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777467" y="3783360"/>
            <a:ext cx="21987" cy="21987"/>
          </a:xfrm>
          <a:prstGeom prst="rect">
            <a:avLst/>
          </a:prstGeom>
          <a:solidFill>
            <a:srgbClr val="00F0FF">
              <a:alpha val="4546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844208" y="2159756"/>
            <a:ext cx="48893" cy="48893"/>
          </a:xfrm>
          <a:prstGeom prst="rect">
            <a:avLst/>
          </a:prstGeom>
          <a:solidFill>
            <a:srgbClr val="00F0FF">
              <a:alpha val="6727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4742038" y="5298829"/>
            <a:ext cx="51970" cy="51970"/>
          </a:xfrm>
          <a:prstGeom prst="rect">
            <a:avLst/>
          </a:prstGeom>
          <a:solidFill>
            <a:srgbClr val="00F0FF">
              <a:alpha val="4547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1955482" y="4039221"/>
            <a:ext cx="20493" cy="20493"/>
          </a:xfrm>
          <a:prstGeom prst="rect">
            <a:avLst/>
          </a:prstGeom>
          <a:solidFill>
            <a:srgbClr val="00F0FF">
              <a:alpha val="4664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1926291" y="1132176"/>
            <a:ext cx="48048" cy="48048"/>
          </a:xfrm>
          <a:prstGeom prst="rect">
            <a:avLst/>
          </a:prstGeom>
          <a:solidFill>
            <a:srgbClr val="FF2BD6">
              <a:alpha val="4847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16056323" y="6136138"/>
            <a:ext cx="31793" cy="31793"/>
          </a:xfrm>
          <a:prstGeom prst="rect">
            <a:avLst/>
          </a:prstGeom>
          <a:solidFill>
            <a:srgbClr val="00F0FF">
              <a:alpha val="4642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8031703" y="8868669"/>
            <a:ext cx="54475" cy="54475"/>
          </a:xfrm>
          <a:prstGeom prst="rect">
            <a:avLst/>
          </a:prstGeom>
          <a:solidFill>
            <a:srgbClr val="00F0FF">
              <a:alpha val="5039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280160" y="1554480"/>
            <a:ext cx="8138160" cy="2377440"/>
          </a:xfrm>
          <a:prstGeom prst="roundRect">
            <a:avLst>
              <a:gd name="adj" fmla="val 3077"/>
            </a:avLst>
          </a:prstGeom>
          <a:solidFill>
            <a:srgbClr val="0A111A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50876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THE BRO CHECK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508760" y="22860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every output, ask: 'Does this make me feel like an alpha sigma... or like I can actually get shit done today?' If it's the first one, roast it again.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784080" y="1554480"/>
            <a:ext cx="8138160" cy="2377440"/>
          </a:xfrm>
          <a:prstGeom prst="roundRect">
            <a:avLst>
              <a:gd name="adj" fmla="val 3077"/>
            </a:avLst>
          </a:prstGeom>
          <a:solidFill>
            <a:srgbClr val="0A111A"/>
          </a:solidFill>
          <a:ln w="19050">
            <a:solidFill>
              <a:srgbClr val="FF2BD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01268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BD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THE LOOP DE LOOP TWIST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10012680" y="22860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iteration must contain exactly one unexpected delightful element. A meme reference, a perfect analogy, or an absurd constraint that somehow makes it better.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280160" y="4160520"/>
            <a:ext cx="8138160" cy="2377440"/>
          </a:xfrm>
          <a:prstGeom prst="roundRect">
            <a:avLst>
              <a:gd name="adj" fmla="val 3077"/>
            </a:avLst>
          </a:prstGeom>
          <a:solidFill>
            <a:srgbClr val="0A111A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08760" y="4343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THE 2-LOOP RULE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1508760" y="48920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on loop 3+ without shipping something usable, you've entered a May spiral. Abort, touch grass, and restart with a simpler prompt.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784080" y="4160520"/>
            <a:ext cx="8138160" cy="2377440"/>
          </a:xfrm>
          <a:prstGeom prst="roundRect">
            <a:avLst>
              <a:gd name="adj" fmla="val 3077"/>
            </a:avLst>
          </a:prstGeom>
          <a:solidFill>
            <a:srgbClr val="0A111A"/>
          </a:solidFill>
          <a:ln w="19050">
            <a:solidFill>
              <a:srgbClr val="FF2BD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012680" y="4343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BD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THE JOY EXIT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10012680" y="48920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following the workflow starts feeling like work, the protocol has failed. Loop de loop back to 'what would make this fun?' and restart.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1280160" y="6766560"/>
            <a:ext cx="8138160" cy="2377440"/>
          </a:xfrm>
          <a:prstGeom prst="roundRect">
            <a:avLst>
              <a:gd name="adj" fmla="val 3077"/>
            </a:avLst>
          </a:prstGeom>
          <a:solidFill>
            <a:srgbClr val="0A111A"/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508760" y="6949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THE NORMAL HUMAN TEST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1508760" y="74980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output to a non-workflow person. If they say 'this is actually helpful' instead of 'this is impressive', you passed.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9784080" y="6766560"/>
            <a:ext cx="8138160" cy="2377440"/>
          </a:xfrm>
          <a:prstGeom prst="roundRect">
            <a:avLst>
              <a:gd name="adj" fmla="val 3077"/>
            </a:avLst>
          </a:prstGeom>
          <a:solidFill>
            <a:srgbClr val="0A111A"/>
          </a:solidFill>
          <a:ln w="19050">
            <a:solidFill>
              <a:srgbClr val="FF2BD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012680" y="6949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BD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THE SHIP IT MANDATE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10012680" y="74980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never 'perfect workflow'. The goal is 'thing that gets used and creates results'. Everything else is theater.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// THE 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972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GO DO THE THING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LOOPDLOOPS.PROTOCOL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73452" y="4817046"/>
            <a:ext cx="29412" cy="29412"/>
          </a:xfrm>
          <a:prstGeom prst="rect">
            <a:avLst/>
          </a:prstGeom>
          <a:solidFill>
            <a:srgbClr val="FF2BD6">
              <a:alpha val="5505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3155" y="7466851"/>
            <a:ext cx="25462" cy="25462"/>
          </a:xfrm>
          <a:prstGeom prst="rect">
            <a:avLst/>
          </a:prstGeom>
          <a:solidFill>
            <a:srgbClr val="00F0FF">
              <a:alpha val="4735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7312392" y="2399466"/>
            <a:ext cx="34710" cy="34710"/>
          </a:xfrm>
          <a:prstGeom prst="rect">
            <a:avLst/>
          </a:prstGeom>
          <a:solidFill>
            <a:srgbClr val="00F0FF">
              <a:alpha val="4345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79555" y="4619093"/>
            <a:ext cx="53206" cy="53206"/>
          </a:xfrm>
          <a:prstGeom prst="rect">
            <a:avLst/>
          </a:prstGeom>
          <a:solidFill>
            <a:srgbClr val="00F0FF">
              <a:alpha val="4105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4779620" y="8367978"/>
            <a:ext cx="26875" cy="26875"/>
          </a:xfrm>
          <a:prstGeom prst="rect">
            <a:avLst/>
          </a:prstGeom>
          <a:solidFill>
            <a:srgbClr val="00F0FF">
              <a:alpha val="5559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2047513" y="6526922"/>
            <a:ext cx="50658" cy="50658"/>
          </a:xfrm>
          <a:prstGeom prst="rect">
            <a:avLst/>
          </a:prstGeom>
          <a:solidFill>
            <a:srgbClr val="00F0FF">
              <a:alpha val="5699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33465" y="6952569"/>
            <a:ext cx="43387" cy="43387"/>
          </a:xfrm>
          <a:prstGeom prst="rect">
            <a:avLst/>
          </a:prstGeom>
          <a:solidFill>
            <a:srgbClr val="00F0FF">
              <a:alpha val="6627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4740932" y="8992562"/>
            <a:ext cx="32268" cy="32268"/>
          </a:xfrm>
          <a:prstGeom prst="rect">
            <a:avLst/>
          </a:prstGeom>
          <a:solidFill>
            <a:srgbClr val="00F0FF">
              <a:alpha val="5223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5815721" y="4506625"/>
            <a:ext cx="22833" cy="22833"/>
          </a:xfrm>
          <a:prstGeom prst="rect">
            <a:avLst/>
          </a:prstGeom>
          <a:solidFill>
            <a:srgbClr val="FF2BD6">
              <a:alpha val="4810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6567741" y="3393561"/>
            <a:ext cx="39579" cy="39579"/>
          </a:xfrm>
          <a:prstGeom prst="rect">
            <a:avLst/>
          </a:prstGeom>
          <a:solidFill>
            <a:srgbClr val="00F0FF">
              <a:alpha val="6824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9651" y="916694"/>
            <a:ext cx="44688" cy="44688"/>
          </a:xfrm>
          <a:prstGeom prst="rect">
            <a:avLst/>
          </a:prstGeom>
          <a:solidFill>
            <a:srgbClr val="00F0FF">
              <a:alpha val="6478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2858855" y="6294106"/>
            <a:ext cx="27436" cy="27436"/>
          </a:xfrm>
          <a:prstGeom prst="rect">
            <a:avLst/>
          </a:prstGeom>
          <a:solidFill>
            <a:srgbClr val="00F0FF">
              <a:alpha val="4428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2324224" y="3897601"/>
            <a:ext cx="44831" cy="44831"/>
          </a:xfrm>
          <a:prstGeom prst="rect">
            <a:avLst/>
          </a:prstGeom>
          <a:solidFill>
            <a:srgbClr val="00F0FF">
              <a:alpha val="4444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1679056" y="3285623"/>
            <a:ext cx="30608" cy="30608"/>
          </a:xfrm>
          <a:prstGeom prst="rect">
            <a:avLst/>
          </a:prstGeom>
          <a:solidFill>
            <a:srgbClr val="FF2BD6">
              <a:alpha val="60727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09476" y="3465454"/>
            <a:ext cx="30938" cy="30938"/>
          </a:xfrm>
          <a:prstGeom prst="rect">
            <a:avLst/>
          </a:prstGeom>
          <a:solidFill>
            <a:srgbClr val="00F0FF">
              <a:alpha val="4303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4726194" y="9230499"/>
            <a:ext cx="25614" cy="25614"/>
          </a:xfrm>
          <a:prstGeom prst="rect">
            <a:avLst/>
          </a:prstGeom>
          <a:solidFill>
            <a:srgbClr val="FF2BD6">
              <a:alpha val="5238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520988" y="7675440"/>
            <a:ext cx="29651" cy="29651"/>
          </a:xfrm>
          <a:prstGeom prst="rect">
            <a:avLst/>
          </a:prstGeom>
          <a:solidFill>
            <a:srgbClr val="00F0FF">
              <a:alpha val="6757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90864" y="5976200"/>
            <a:ext cx="36387" cy="36387"/>
          </a:xfrm>
          <a:prstGeom prst="rect">
            <a:avLst/>
          </a:prstGeom>
          <a:solidFill>
            <a:srgbClr val="00F0FF">
              <a:alpha val="4185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15491" y="1778624"/>
            <a:ext cx="21552" cy="21552"/>
          </a:xfrm>
          <a:prstGeom prst="rect">
            <a:avLst/>
          </a:prstGeom>
          <a:solidFill>
            <a:srgbClr val="00F0FF">
              <a:alpha val="5955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58007" y="5662234"/>
            <a:ext cx="44865" cy="44865"/>
          </a:xfrm>
          <a:prstGeom prst="rect">
            <a:avLst/>
          </a:prstGeom>
          <a:solidFill>
            <a:srgbClr val="00F0FF">
              <a:alpha val="528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2344858" y="5402434"/>
            <a:ext cx="46832" cy="46832"/>
          </a:xfrm>
          <a:prstGeom prst="rect">
            <a:avLst/>
          </a:prstGeom>
          <a:solidFill>
            <a:srgbClr val="00F0FF">
              <a:alpha val="6823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815394" y="687226"/>
            <a:ext cx="35694" cy="35694"/>
          </a:xfrm>
          <a:prstGeom prst="rect">
            <a:avLst/>
          </a:prstGeom>
          <a:solidFill>
            <a:srgbClr val="00F0FF">
              <a:alpha val="6346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922673" y="7201536"/>
            <a:ext cx="42722" cy="42722"/>
          </a:xfrm>
          <a:prstGeom prst="rect">
            <a:avLst/>
          </a:prstGeom>
          <a:solidFill>
            <a:srgbClr val="00F0FF">
              <a:alpha val="4398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4004019" y="2509965"/>
            <a:ext cx="28744" cy="28744"/>
          </a:xfrm>
          <a:prstGeom prst="rect">
            <a:avLst/>
          </a:prstGeom>
          <a:solidFill>
            <a:srgbClr val="00F0FF">
              <a:alpha val="5969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67744" y="6722116"/>
            <a:ext cx="34511" cy="34511"/>
          </a:xfrm>
          <a:prstGeom prst="rect">
            <a:avLst/>
          </a:prstGeom>
          <a:solidFill>
            <a:srgbClr val="00F0FF">
              <a:alpha val="6161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6538265" y="3869435"/>
            <a:ext cx="26271" cy="26271"/>
          </a:xfrm>
          <a:prstGeom prst="rect">
            <a:avLst/>
          </a:prstGeom>
          <a:solidFill>
            <a:srgbClr val="00F0FF">
              <a:alpha val="6854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6100906" y="7254323"/>
            <a:ext cx="21747" cy="21747"/>
          </a:xfrm>
          <a:prstGeom prst="rect">
            <a:avLst/>
          </a:prstGeom>
          <a:solidFill>
            <a:srgbClr val="00F0FF">
              <a:alpha val="4372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6295820" y="2269664"/>
            <a:ext cx="21051" cy="21051"/>
          </a:xfrm>
          <a:prstGeom prst="rect">
            <a:avLst/>
          </a:prstGeom>
          <a:solidFill>
            <a:srgbClr val="00F0FF">
              <a:alpha val="5149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3355903" y="5621462"/>
            <a:ext cx="35135" cy="35135"/>
          </a:xfrm>
          <a:prstGeom prst="rect">
            <a:avLst/>
          </a:prstGeom>
          <a:solidFill>
            <a:srgbClr val="00F0FF">
              <a:alpha val="6400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877361" y="2021879"/>
            <a:ext cx="28889" cy="28889"/>
          </a:xfrm>
          <a:prstGeom prst="rect">
            <a:avLst/>
          </a:prstGeom>
          <a:solidFill>
            <a:srgbClr val="FF2BD6">
              <a:alpha val="4781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50743" y="6475119"/>
            <a:ext cx="34939" cy="34939"/>
          </a:xfrm>
          <a:prstGeom prst="rect">
            <a:avLst/>
          </a:prstGeom>
          <a:solidFill>
            <a:srgbClr val="00F0FF">
              <a:alpha val="6061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2998869" y="4033706"/>
            <a:ext cx="35787" cy="35787"/>
          </a:xfrm>
          <a:prstGeom prst="rect">
            <a:avLst/>
          </a:prstGeom>
          <a:solidFill>
            <a:srgbClr val="00F0FF">
              <a:alpha val="5786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0147382" y="5957882"/>
            <a:ext cx="53219" cy="53219"/>
          </a:xfrm>
          <a:prstGeom prst="rect">
            <a:avLst/>
          </a:prstGeom>
          <a:solidFill>
            <a:srgbClr val="00F0FF">
              <a:alpha val="6948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46513" y="1724852"/>
            <a:ext cx="42646" cy="42646"/>
          </a:xfrm>
          <a:prstGeom prst="rect">
            <a:avLst/>
          </a:prstGeom>
          <a:solidFill>
            <a:srgbClr val="00F0FF">
              <a:alpha val="5647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6899721" y="9061698"/>
            <a:ext cx="31273" cy="31273"/>
          </a:xfrm>
          <a:prstGeom prst="rect">
            <a:avLst/>
          </a:prstGeom>
          <a:solidFill>
            <a:srgbClr val="00F0FF">
              <a:alpha val="4763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962089" y="1448703"/>
            <a:ext cx="24633" cy="24633"/>
          </a:xfrm>
          <a:prstGeom prst="rect">
            <a:avLst/>
          </a:prstGeom>
          <a:solidFill>
            <a:srgbClr val="00F0FF">
              <a:alpha val="4621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1324969" y="7164112"/>
            <a:ext cx="47220" cy="47220"/>
          </a:xfrm>
          <a:prstGeom prst="rect">
            <a:avLst/>
          </a:prstGeom>
          <a:solidFill>
            <a:srgbClr val="00F0FF">
              <a:alpha val="6656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300299" y="3091807"/>
            <a:ext cx="24643" cy="24643"/>
          </a:xfrm>
          <a:prstGeom prst="rect">
            <a:avLst/>
          </a:prstGeom>
          <a:solidFill>
            <a:srgbClr val="00F0FF">
              <a:alpha val="6080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944763" y="7639592"/>
            <a:ext cx="19329" cy="19329"/>
          </a:xfrm>
          <a:prstGeom prst="rect">
            <a:avLst/>
          </a:prstGeom>
          <a:solidFill>
            <a:srgbClr val="00F0FF">
              <a:alpha val="6551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5318673" y="5179269"/>
            <a:ext cx="51710" cy="51710"/>
          </a:xfrm>
          <a:prstGeom prst="rect">
            <a:avLst/>
          </a:prstGeom>
          <a:solidFill>
            <a:srgbClr val="00F0FF">
              <a:alpha val="5838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823885" y="5269284"/>
            <a:ext cx="18945" cy="18945"/>
          </a:xfrm>
          <a:prstGeom prst="rect">
            <a:avLst/>
          </a:prstGeom>
          <a:solidFill>
            <a:srgbClr val="00F0FF">
              <a:alpha val="6487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4527964" y="6916917"/>
            <a:ext cx="40357" cy="40357"/>
          </a:xfrm>
          <a:prstGeom prst="rect">
            <a:avLst/>
          </a:prstGeom>
          <a:solidFill>
            <a:srgbClr val="00F0FF">
              <a:alpha val="6489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469462" y="5725854"/>
            <a:ext cx="22587" cy="22587"/>
          </a:xfrm>
          <a:prstGeom prst="rect">
            <a:avLst/>
          </a:prstGeom>
          <a:solidFill>
            <a:srgbClr val="00F0FF">
              <a:alpha val="5945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6903037" y="7170218"/>
            <a:ext cx="53802" cy="53802"/>
          </a:xfrm>
          <a:prstGeom prst="rect">
            <a:avLst/>
          </a:prstGeom>
          <a:solidFill>
            <a:srgbClr val="FF2BD6">
              <a:alpha val="57351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14953532" y="9236211"/>
            <a:ext cx="54188" cy="54188"/>
          </a:xfrm>
          <a:prstGeom prst="rect">
            <a:avLst/>
          </a:prstGeom>
          <a:solidFill>
            <a:srgbClr val="00F0FF">
              <a:alpha val="4183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4591339" y="9569677"/>
            <a:ext cx="36052" cy="36052"/>
          </a:xfrm>
          <a:prstGeom prst="rect">
            <a:avLst/>
          </a:prstGeom>
          <a:solidFill>
            <a:srgbClr val="00F0FF">
              <a:alpha val="6724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88875" y="9560419"/>
            <a:ext cx="22534" cy="22534"/>
          </a:xfrm>
          <a:prstGeom prst="rect">
            <a:avLst/>
          </a:prstGeom>
          <a:solidFill>
            <a:srgbClr val="00F0FF">
              <a:alpha val="657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654026" y="6173562"/>
            <a:ext cx="27295" cy="27295"/>
          </a:xfrm>
          <a:prstGeom prst="rect">
            <a:avLst/>
          </a:prstGeom>
          <a:solidFill>
            <a:srgbClr val="00F0FF">
              <a:alpha val="5384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2735422" y="8286827"/>
            <a:ext cx="21999" cy="21999"/>
          </a:xfrm>
          <a:prstGeom prst="rect">
            <a:avLst/>
          </a:prstGeom>
          <a:solidFill>
            <a:srgbClr val="00F0FF">
              <a:alpha val="4928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2886121" y="4015979"/>
            <a:ext cx="37917" cy="37917"/>
          </a:xfrm>
          <a:prstGeom prst="rect">
            <a:avLst/>
          </a:prstGeom>
          <a:solidFill>
            <a:srgbClr val="00F0FF">
              <a:alpha val="5750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4252727" y="7684500"/>
            <a:ext cx="35877" cy="35877"/>
          </a:xfrm>
          <a:prstGeom prst="rect">
            <a:avLst/>
          </a:prstGeom>
          <a:solidFill>
            <a:srgbClr val="00F0FF">
              <a:alpha val="6842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7524992" y="2643115"/>
            <a:ext cx="20054" cy="20054"/>
          </a:xfrm>
          <a:prstGeom prst="rect">
            <a:avLst/>
          </a:prstGeom>
          <a:solidFill>
            <a:srgbClr val="00F0FF">
              <a:alpha val="6305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655173" y="9682145"/>
            <a:ext cx="29848" cy="29848"/>
          </a:xfrm>
          <a:prstGeom prst="rect">
            <a:avLst/>
          </a:prstGeom>
          <a:solidFill>
            <a:srgbClr val="00F0FF">
              <a:alpha val="6019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5991475" y="5345116"/>
            <a:ext cx="46406" cy="46406"/>
          </a:xfrm>
          <a:prstGeom prst="rect">
            <a:avLst/>
          </a:prstGeom>
          <a:solidFill>
            <a:srgbClr val="00F0FF">
              <a:alpha val="5307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13201888" y="2594070"/>
            <a:ext cx="33265" cy="33265"/>
          </a:xfrm>
          <a:prstGeom prst="rect">
            <a:avLst/>
          </a:prstGeom>
          <a:solidFill>
            <a:srgbClr val="00F0FF">
              <a:alpha val="4606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8710032" y="8945290"/>
            <a:ext cx="37950" cy="37950"/>
          </a:xfrm>
          <a:prstGeom prst="rect">
            <a:avLst/>
          </a:prstGeom>
          <a:solidFill>
            <a:srgbClr val="FF2BD6">
              <a:alpha val="41278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5302829" y="9110939"/>
            <a:ext cx="25355" cy="25355"/>
          </a:xfrm>
          <a:prstGeom prst="rect">
            <a:avLst/>
          </a:prstGeom>
          <a:solidFill>
            <a:srgbClr val="FF2BD6">
              <a:alpha val="65298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198671" y="8905502"/>
            <a:ext cx="28102" cy="28102"/>
          </a:xfrm>
          <a:prstGeom prst="rect">
            <a:avLst/>
          </a:prstGeom>
          <a:solidFill>
            <a:srgbClr val="00F0FF">
              <a:alpha val="5580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2292537" y="2571221"/>
            <a:ext cx="28696" cy="28696"/>
          </a:xfrm>
          <a:prstGeom prst="rect">
            <a:avLst/>
          </a:prstGeom>
          <a:solidFill>
            <a:srgbClr val="00F0FF">
              <a:alpha val="5826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13619350" y="1368340"/>
            <a:ext cx="48922" cy="48922"/>
          </a:xfrm>
          <a:prstGeom prst="rect">
            <a:avLst/>
          </a:prstGeom>
          <a:solidFill>
            <a:srgbClr val="00F0FF">
              <a:alpha val="4258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7329341" y="3963782"/>
            <a:ext cx="44191" cy="44191"/>
          </a:xfrm>
          <a:prstGeom prst="rect">
            <a:avLst/>
          </a:prstGeom>
          <a:solidFill>
            <a:srgbClr val="00F0FF">
              <a:alpha val="5978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15835249" y="9705191"/>
            <a:ext cx="41709" cy="41709"/>
          </a:xfrm>
          <a:prstGeom prst="rect">
            <a:avLst/>
          </a:prstGeom>
          <a:solidFill>
            <a:srgbClr val="00F0FF">
              <a:alpha val="4865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12373597" y="1262569"/>
            <a:ext cx="47006" cy="47006"/>
          </a:xfrm>
          <a:prstGeom prst="rect">
            <a:avLst/>
          </a:prstGeom>
          <a:solidFill>
            <a:srgbClr val="00F0FF">
              <a:alpha val="4244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11454298" y="6914160"/>
            <a:ext cx="48004" cy="48004"/>
          </a:xfrm>
          <a:prstGeom prst="rect">
            <a:avLst/>
          </a:prstGeom>
          <a:solidFill>
            <a:srgbClr val="00F0FF">
              <a:alpha val="5550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580008" y="3543847"/>
            <a:ext cx="43461" cy="43461"/>
          </a:xfrm>
          <a:prstGeom prst="rect">
            <a:avLst/>
          </a:prstGeom>
          <a:solidFill>
            <a:srgbClr val="00F0FF">
              <a:alpha val="6995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12998132" y="9559435"/>
            <a:ext cx="22652" cy="22652"/>
          </a:xfrm>
          <a:prstGeom prst="rect">
            <a:avLst/>
          </a:prstGeom>
          <a:solidFill>
            <a:srgbClr val="FF2BD6">
              <a:alpha val="6237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2196821" y="9332725"/>
            <a:ext cx="42587" cy="42587"/>
          </a:xfrm>
          <a:prstGeom prst="rect">
            <a:avLst/>
          </a:prstGeom>
          <a:solidFill>
            <a:srgbClr val="00F0FF">
              <a:alpha val="4045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1340813" y="3232442"/>
            <a:ext cx="37000" cy="37000"/>
          </a:xfrm>
          <a:prstGeom prst="rect">
            <a:avLst/>
          </a:prstGeom>
          <a:solidFill>
            <a:srgbClr val="00F0FF">
              <a:alpha val="5965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16925513" y="8645308"/>
            <a:ext cx="52062" cy="52062"/>
          </a:xfrm>
          <a:prstGeom prst="rect">
            <a:avLst/>
          </a:prstGeom>
          <a:solidFill>
            <a:srgbClr val="00F0FF">
              <a:alpha val="6987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8180191" y="2795568"/>
            <a:ext cx="30990" cy="30990"/>
          </a:xfrm>
          <a:prstGeom prst="rect">
            <a:avLst/>
          </a:prstGeom>
          <a:solidFill>
            <a:srgbClr val="00F0FF">
              <a:alpha val="4214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168785" y="9536783"/>
            <a:ext cx="25375" cy="25375"/>
          </a:xfrm>
          <a:prstGeom prst="rect">
            <a:avLst/>
          </a:prstGeom>
          <a:solidFill>
            <a:srgbClr val="00F0FF">
              <a:alpha val="4525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8397580" y="8475719"/>
            <a:ext cx="28555" cy="28555"/>
          </a:xfrm>
          <a:prstGeom prst="rect">
            <a:avLst/>
          </a:prstGeom>
          <a:solidFill>
            <a:srgbClr val="FF2BD6">
              <a:alpha val="62441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3646247" y="6447938"/>
            <a:ext cx="52837" cy="52837"/>
          </a:xfrm>
          <a:prstGeom prst="rect">
            <a:avLst/>
          </a:prstGeom>
          <a:solidFill>
            <a:srgbClr val="00F0FF">
              <a:alpha val="5806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687204" y="4843243"/>
            <a:ext cx="48209" cy="48209"/>
          </a:xfrm>
          <a:prstGeom prst="rect">
            <a:avLst/>
          </a:prstGeom>
          <a:solidFill>
            <a:srgbClr val="00F0FF">
              <a:alpha val="5425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037614" y="626757"/>
            <a:ext cx="28332" cy="28332"/>
          </a:xfrm>
          <a:prstGeom prst="rect">
            <a:avLst/>
          </a:prstGeom>
          <a:solidFill>
            <a:srgbClr val="00F0FF">
              <a:alpha val="6757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2836830" y="2676205"/>
            <a:ext cx="38022" cy="38022"/>
          </a:xfrm>
          <a:prstGeom prst="rect">
            <a:avLst/>
          </a:prstGeom>
          <a:solidFill>
            <a:srgbClr val="00F0FF">
              <a:alpha val="5572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14328629" y="8297069"/>
            <a:ext cx="35399" cy="35399"/>
          </a:xfrm>
          <a:prstGeom prst="rect">
            <a:avLst/>
          </a:prstGeom>
          <a:solidFill>
            <a:srgbClr val="00F0FF">
              <a:alpha val="5415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11278175" y="4243673"/>
            <a:ext cx="54440" cy="54440"/>
          </a:xfrm>
          <a:prstGeom prst="rect">
            <a:avLst/>
          </a:prstGeom>
          <a:solidFill>
            <a:srgbClr val="00F0FF">
              <a:alpha val="5278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11565940" y="1435900"/>
            <a:ext cx="26171" cy="26171"/>
          </a:xfrm>
          <a:prstGeom prst="rect">
            <a:avLst/>
          </a:prstGeom>
          <a:solidFill>
            <a:srgbClr val="00F0FF">
              <a:alpha val="6262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3334901" y="2284634"/>
            <a:ext cx="26567" cy="26567"/>
          </a:xfrm>
          <a:prstGeom prst="rect">
            <a:avLst/>
          </a:prstGeom>
          <a:solidFill>
            <a:srgbClr val="00F0FF">
              <a:alpha val="4246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8361103" y="1712837"/>
            <a:ext cx="36775" cy="36775"/>
          </a:xfrm>
          <a:prstGeom prst="rect">
            <a:avLst/>
          </a:prstGeom>
          <a:solidFill>
            <a:srgbClr val="00F0FF">
              <a:alpha val="4556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6884697" y="3492833"/>
            <a:ext cx="20332" cy="20332"/>
          </a:xfrm>
          <a:prstGeom prst="rect">
            <a:avLst/>
          </a:prstGeom>
          <a:solidFill>
            <a:srgbClr val="00F0FF">
              <a:alpha val="4625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5138580" y="5951185"/>
            <a:ext cx="24763" cy="24763"/>
          </a:xfrm>
          <a:prstGeom prst="rect">
            <a:avLst/>
          </a:prstGeom>
          <a:solidFill>
            <a:srgbClr val="00F0FF">
              <a:alpha val="4667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15909677" y="2989778"/>
            <a:ext cx="51538" cy="51538"/>
          </a:xfrm>
          <a:prstGeom prst="rect">
            <a:avLst/>
          </a:prstGeom>
          <a:solidFill>
            <a:srgbClr val="00F0FF">
              <a:alpha val="4340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7416380" y="9612813"/>
            <a:ext cx="23551" cy="23551"/>
          </a:xfrm>
          <a:prstGeom prst="rect">
            <a:avLst/>
          </a:prstGeom>
          <a:solidFill>
            <a:srgbClr val="00F0FF">
              <a:alpha val="6412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8362945" y="1683095"/>
            <a:ext cx="33035" cy="33035"/>
          </a:xfrm>
          <a:prstGeom prst="rect">
            <a:avLst/>
          </a:prstGeom>
          <a:solidFill>
            <a:srgbClr val="00F0FF">
              <a:alpha val="6429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975018" y="8840306"/>
            <a:ext cx="28624" cy="28624"/>
          </a:xfrm>
          <a:prstGeom prst="rect">
            <a:avLst/>
          </a:prstGeom>
          <a:solidFill>
            <a:srgbClr val="00F0FF">
              <a:alpha val="4382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14593550" y="2182210"/>
            <a:ext cx="38878" cy="38878"/>
          </a:xfrm>
          <a:prstGeom prst="rect">
            <a:avLst/>
          </a:prstGeom>
          <a:solidFill>
            <a:srgbClr val="00F0FF">
              <a:alpha val="5372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249837" y="8625611"/>
            <a:ext cx="54430" cy="54430"/>
          </a:xfrm>
          <a:prstGeom prst="rect">
            <a:avLst/>
          </a:prstGeom>
          <a:solidFill>
            <a:srgbClr val="00F0FF">
              <a:alpha val="6280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16561846" y="1650792"/>
            <a:ext cx="44233" cy="44233"/>
          </a:xfrm>
          <a:prstGeom prst="rect">
            <a:avLst/>
          </a:prstGeom>
          <a:solidFill>
            <a:srgbClr val="00F0FF">
              <a:alpha val="4430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12658046" y="9535995"/>
            <a:ext cx="32785" cy="32785"/>
          </a:xfrm>
          <a:prstGeom prst="rect">
            <a:avLst/>
          </a:prstGeom>
          <a:solidFill>
            <a:srgbClr val="00F0FF">
              <a:alpha val="4256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3231816" y="9165106"/>
            <a:ext cx="18844" cy="18844"/>
          </a:xfrm>
          <a:prstGeom prst="rect">
            <a:avLst/>
          </a:prstGeom>
          <a:solidFill>
            <a:srgbClr val="00F0FF">
              <a:alpha val="6972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12530560" y="566485"/>
            <a:ext cx="28261" cy="28261"/>
          </a:xfrm>
          <a:prstGeom prst="rect">
            <a:avLst/>
          </a:prstGeom>
          <a:solidFill>
            <a:srgbClr val="00F0FF">
              <a:alpha val="4235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3042429" y="4870818"/>
            <a:ext cx="44895" cy="44895"/>
          </a:xfrm>
          <a:prstGeom prst="rect">
            <a:avLst/>
          </a:prstGeom>
          <a:solidFill>
            <a:srgbClr val="FF2BD6">
              <a:alpha val="5814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70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14932161" y="4067387"/>
            <a:ext cx="39053" cy="39053"/>
          </a:xfrm>
          <a:prstGeom prst="rect">
            <a:avLst/>
          </a:prstGeom>
          <a:solidFill>
            <a:srgbClr val="00F0FF">
              <a:alpha val="5255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7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8229600" y="4114800"/>
            <a:ext cx="1828800" cy="1828800"/>
          </a:xfrm>
          <a:prstGeom prst="ellipse">
            <a:avLst/>
          </a:prstGeom>
          <a:ln w="9525">
            <a:solidFill>
              <a:srgbClr val="1A8A8E">
                <a:alpha val="65000"/>
              </a:srgbClr>
            </a:solidFill>
            <a:prstDash val="dash"/>
          </a:ln>
        </p:spPr>
      </p:sp>
      <p:sp>
        <p:nvSpPr>
          <p:cNvPr id="110" name="Shape 108"/>
          <p:cNvSpPr/>
          <p:nvPr/>
        </p:nvSpPr>
        <p:spPr>
          <a:xfrm>
            <a:off x="7406640" y="3291840"/>
            <a:ext cx="3474720" cy="3474720"/>
          </a:xfrm>
          <a:prstGeom prst="ellipse">
            <a:avLst/>
          </a:prstGeom>
          <a:ln w="9525">
            <a:solidFill>
              <a:srgbClr val="1A8A8E">
                <a:alpha val="65000"/>
              </a:srgbClr>
            </a:solidFill>
            <a:prstDash val="dash"/>
          </a:ln>
        </p:spPr>
      </p:sp>
      <p:sp>
        <p:nvSpPr>
          <p:cNvPr id="111" name="Shape 109"/>
          <p:cNvSpPr/>
          <p:nvPr/>
        </p:nvSpPr>
        <p:spPr>
          <a:xfrm>
            <a:off x="6583680" y="2468880"/>
            <a:ext cx="5120640" cy="5120640"/>
          </a:xfrm>
          <a:prstGeom prst="ellipse">
            <a:avLst/>
          </a:prstGeom>
          <a:ln w="9525">
            <a:solidFill>
              <a:srgbClr val="1A8A8E">
                <a:alpha val="65000"/>
              </a:srgbClr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5943600" y="1828800"/>
            <a:ext cx="6400800" cy="6400800"/>
          </a:xfrm>
          <a:prstGeom prst="ellipse">
            <a:avLst/>
          </a:prstGeom>
          <a:ln w="9525">
            <a:solidFill>
              <a:srgbClr val="1A8A8E">
                <a:alpha val="65000"/>
              </a:srgbClr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>
            <a:off x="5943600" y="5029200"/>
            <a:ext cx="6400800" cy="0"/>
          </a:xfrm>
          <a:prstGeom prst="line">
            <a:avLst/>
          </a:prstGeom>
          <a:noFill/>
          <a:ln w="6350">
            <a:solidFill>
              <a:srgbClr val="1A8A8E">
                <a:alpha val="35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144000" y="1828800"/>
            <a:ext cx="0" cy="6400800"/>
          </a:xfrm>
          <a:prstGeom prst="line">
            <a:avLst/>
          </a:prstGeom>
          <a:noFill/>
          <a:ln w="6350">
            <a:solidFill>
              <a:srgbClr val="1A8A8E">
                <a:alpha val="35000"/>
              </a:srgbClr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0" y="2560320"/>
            <a:ext cx="1828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WORKFLOWS</a:t>
            </a:r>
            <a:endParaRPr lang="en-US" sz="2400" dirty="0"/>
          </a:p>
        </p:txBody>
      </p:sp>
      <p:sp>
        <p:nvSpPr>
          <p:cNvPr id="116" name="Text 114"/>
          <p:cNvSpPr/>
          <p:nvPr/>
        </p:nvSpPr>
        <p:spPr>
          <a:xfrm>
            <a:off x="0" y="3200400"/>
            <a:ext cx="1828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ISN'T MORE LOOPS.</a:t>
            </a:r>
            <a:endParaRPr lang="en-US" sz="5200" dirty="0"/>
          </a:p>
        </p:txBody>
      </p:sp>
      <p:sp>
        <p:nvSpPr>
          <p:cNvPr id="117" name="Text 115"/>
          <p:cNvSpPr/>
          <p:nvPr/>
        </p:nvSpPr>
        <p:spPr>
          <a:xfrm>
            <a:off x="0" y="4114800"/>
            <a:ext cx="1828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</a:t>
            </a:r>
            <a:pPr algn="ctr" indent="0" marL="0">
              <a:buNone/>
            </a:pPr>
            <a:r>
              <a:rPr lang="en-US" sz="5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D' LOOPS</a:t>
            </a:r>
            <a:endParaRPr lang="en-US" sz="5600" dirty="0"/>
          </a:p>
        </p:txBody>
      </p:sp>
      <p:sp>
        <p:nvSpPr>
          <p:cNvPr id="118" name="Text 116"/>
          <p:cNvSpPr/>
          <p:nvPr/>
        </p:nvSpPr>
        <p:spPr>
          <a:xfrm>
            <a:off x="0" y="5212080"/>
            <a:ext cx="1828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2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loops is so May, bro.</a:t>
            </a:r>
            <a:endParaRPr lang="en-US" sz="2800" dirty="0"/>
          </a:p>
        </p:txBody>
      </p:sp>
      <p:sp>
        <p:nvSpPr>
          <p:cNvPr id="119" name="Text 117"/>
          <p:cNvSpPr/>
          <p:nvPr/>
        </p:nvSpPr>
        <p:spPr>
          <a:xfrm>
            <a:off x="1828800" y="603504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master prompt. Use it. Ship things.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us later (or roast us if it sucks — we can take it).</a:t>
            </a:r>
            <a:endParaRPr lang="en-US" sz="2000" dirty="0"/>
          </a:p>
        </p:txBody>
      </p:sp>
      <p:sp>
        <p:nvSpPr>
          <p:cNvPr id="120" name="Text 118"/>
          <p:cNvSpPr/>
          <p:nvPr/>
        </p:nvSpPr>
        <p:spPr>
          <a:xfrm>
            <a:off x="0" y="7498080"/>
            <a:ext cx="1828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FINANCIAL ADVICE  ·  ACTUALLY USEFUL ADVICE THO  ·  COMEDY CERTIFIED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 D' Loops — Post-May Workflow Protocol</dc:title>
  <dc:subject>PptxGenJS Presentation</dc:subject>
  <dc:creator>AstrognosyAi Research Division</dc:creator>
  <cp:lastModifiedBy>AstrognosyAi Research Division</cp:lastModifiedBy>
  <cp:revision>1</cp:revision>
  <dcterms:created xsi:type="dcterms:W3CDTF">2026-06-24T02:52:11Z</dcterms:created>
  <dcterms:modified xsi:type="dcterms:W3CDTF">2026-06-24T02:52:11Z</dcterms:modified>
</cp:coreProperties>
</file>